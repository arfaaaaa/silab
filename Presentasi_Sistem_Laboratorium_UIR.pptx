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47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SISTEM INFORMASI LABORATORIUM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633"/>
                </a:solidFill>
              </a:defRPr>
            </a:pPr>
            <a:r>
              <a:t>UNIVERSITAS ISLAM RIAU (UIR) PEKANBARU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4B4B4"/>
                </a:solidFill>
              </a:defRPr>
            </a:pPr>
            <a:r>
              <a:t>Sistem Manajemen 5 Laboratorium Komputer Terpadu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2FE"/>
                </a:solidFill>
              </a:defRPr>
            </a:pPr>
            <a:r>
              <a:t>📊 GAMBARAN UMUM SISTEM SILAB UIR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defRPr sz="1400">
                <a:solidFill>
                  <a:srgbClr val="F0F0F0"/>
                </a:solidFill>
              </a:defRPr>
            </a:pPr>
            <a:r>
              <a:t>🎯 TUJUAN: Mengelola 5 laboratorium komputer secara terpadu &amp; efisien</a:t>
            </a:r>
          </a:p>
          <a:p>
            <a:pPr>
              <a:spcBef>
                <a:spcPts val="600"/>
              </a:spcBef>
              <a:defRPr sz="1400">
                <a:solidFill>
                  <a:srgbClr val="F0F0F0"/>
                </a:solidFill>
              </a:defRPr>
            </a:pPr>
            <a:r>
              <a:t>🏛️ CAKUPAN: Lab 1 (Web), Lab 2 (Database), Lab 3 (Jaringan), Lab 4 (Mobile), Lab 5 (AI)</a:t>
            </a:r>
          </a:p>
          <a:p>
            <a:pPr>
              <a:spcBef>
                <a:spcPts val="600"/>
              </a:spcBef>
              <a:defRPr sz="1400">
                <a:solidFill>
                  <a:srgbClr val="F0F0F0"/>
                </a:solidFill>
              </a:defRPr>
            </a:pPr>
            <a:r>
              <a:t>👥 PENGGUNA: Admin Laboran (Full Access) &amp; ASDOS/ASLAB (Akses Terbatas)</a:t>
            </a:r>
          </a:p>
          <a:p>
            <a:pPr>
              <a:spcBef>
                <a:spcPts val="600"/>
              </a:spcBef>
              <a:defRPr sz="1400">
                <a:solidFill>
                  <a:srgbClr val="F0F0F0"/>
                </a:solidFill>
              </a:defRPr>
            </a:pPr>
            <a:r>
              <a:t>⚡ FITUR UTAMA:</a:t>
            </a:r>
          </a:p>
          <a:p>
            <a:pPr lvl="1">
              <a:spcBef>
                <a:spcPts val="600"/>
              </a:spcBef>
              <a:defRPr sz="1400">
                <a:solidFill>
                  <a:srgbClr val="F0F0F0"/>
                </a:solidFill>
              </a:defRPr>
            </a:pPr>
            <a:r>
              <a:t>   • Penjadwalan &amp; Monitoring 5 Lab Real-Time</a:t>
            </a:r>
          </a:p>
          <a:p>
            <a:pPr lvl="1">
              <a:spcBef>
                <a:spcPts val="600"/>
              </a:spcBef>
              <a:defRPr sz="1400">
                <a:solidFill>
                  <a:srgbClr val="F0F0F0"/>
                </a:solidFill>
              </a:defRPr>
            </a:pPr>
            <a:r>
              <a:t>   • Presensi Mahasiswa &amp; Asisten dengan Referensi Cerdas</a:t>
            </a:r>
          </a:p>
          <a:p>
            <a:pPr lvl="1">
              <a:spcBef>
                <a:spcPts val="600"/>
              </a:spcBef>
              <a:defRPr sz="1400">
                <a:solidFill>
                  <a:srgbClr val="F0F0F0"/>
                </a:solidFill>
              </a:defRPr>
            </a:pPr>
            <a:r>
              <a:t>   • Inventaris Aset PC &amp; Perangkat (180+ Unit)</a:t>
            </a:r>
          </a:p>
          <a:p>
            <a:pPr lvl="1">
              <a:spcBef>
                <a:spcPts val="600"/>
              </a:spcBef>
              <a:defRPr sz="1400">
                <a:solidFill>
                  <a:srgbClr val="F0F0F0"/>
                </a:solidFill>
              </a:defRPr>
            </a:pPr>
            <a:r>
              <a:t>   • Manajemen Modul Praktikum &amp; Jobsheet</a:t>
            </a:r>
          </a:p>
          <a:p>
            <a:pPr lvl="1">
              <a:spcBef>
                <a:spcPts val="600"/>
              </a:spcBef>
              <a:defRPr sz="1400">
                <a:solidFill>
                  <a:srgbClr val="F0F0F0"/>
                </a:solidFill>
              </a:defRPr>
            </a:pPr>
            <a:r>
              <a:t>   • Rekapitulasi Nilai Akhir (Tugas 40% + Ujian 60%)</a:t>
            </a:r>
          </a:p>
          <a:p>
            <a:pPr>
              <a:spcBef>
                <a:spcPts val="600"/>
              </a:spcBef>
              <a:defRPr sz="1400">
                <a:solidFill>
                  <a:srgbClr val="F0F0F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400">
                <a:solidFill>
                  <a:srgbClr val="F0F0F0"/>
                </a:solidFill>
              </a:defRPr>
            </a:pPr>
            <a:r>
              <a:t>🔐 KEAMANAN: Multi-Role Authentication (Admin vs ASDOS)</a:t>
            </a:r>
          </a:p>
          <a:p>
            <a:pPr>
              <a:spcBef>
                <a:spcPts val="600"/>
              </a:spcBef>
              <a:defRPr sz="1400">
                <a:solidFill>
                  <a:srgbClr val="F0F0F0"/>
                </a:solidFill>
              </a:defRPr>
            </a:pPr>
            <a:r>
              <a:t>📱 TEKNOLOGI: HTML5, CSS3 (Glassmorphism), Vanilla JavaScript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AB308"/>
                </a:solidFill>
              </a:defRPr>
            </a:pPr>
            <a:r>
              <a:t>1️⃣ ERD CONTEXT DIAGRAM (Level 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400"/>
              </a:spcBef>
              <a:defRPr sz="1300" b="1">
                <a:solidFill>
                  <a:srgbClr val="006633"/>
                </a:solidFill>
              </a:defRPr>
            </a:pPr>
            <a:r>
              <a:t>📐 PENGERTIAN:</a:t>
            </a:r>
          </a:p>
          <a:p>
            <a:pPr>
              <a:spcBef>
                <a:spcPts val="400"/>
              </a:spcBef>
              <a:defRPr sz="1300">
                <a:solidFill>
                  <a:srgbClr val="E6E6E6"/>
                </a:solidFill>
              </a:defRPr>
            </a:pPr>
            <a:r>
              <a:t>ERD (Entity Relationship Diagram) menggambarkan hubungan antar entitas data dalam sistem laboratorium.</a:t>
            </a:r>
          </a:p>
          <a:p>
            <a:pPr>
              <a:spcBef>
                <a:spcPts val="400"/>
              </a:spcBef>
              <a:defRPr sz="1300">
                <a:solidFill>
                  <a:srgbClr val="E6E6E6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300" b="1">
                <a:solidFill>
                  <a:srgbClr val="006633"/>
                </a:solidFill>
              </a:defRPr>
            </a:pPr>
            <a:r>
              <a:t>🗄️ ENTITAS UTAMA &amp; RELASI:</a:t>
            </a:r>
          </a:p>
          <a:p>
            <a:pPr>
              <a:spcBef>
                <a:spcPts val="400"/>
              </a:spcBef>
              <a:defRPr sz="1300">
                <a:solidFill>
                  <a:srgbClr val="E6E6E6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300">
                <a:solidFill>
                  <a:srgbClr val="E6E6E6"/>
                </a:solidFill>
              </a:defRPr>
            </a:pPr>
            <a:r>
              <a:t>1. LABORATORIUM (Lab 1 - Lab 5)</a:t>
            </a:r>
          </a:p>
          <a:p>
            <a:pPr>
              <a:spcBef>
                <a:spcPts val="400"/>
              </a:spcBef>
              <a:defRPr sz="1300">
                <a:solidFill>
                  <a:srgbClr val="E6E6E6"/>
                </a:solidFill>
              </a:defRPr>
            </a:pPr>
            <a:r>
              <a:t>   └─[1 to N]→ JADWAL (Satu lab memiliki banyak jadwal)</a:t>
            </a:r>
          </a:p>
          <a:p>
            <a:pPr>
              <a:spcBef>
                <a:spcPts val="400"/>
              </a:spcBef>
              <a:defRPr sz="1300">
                <a:solidFill>
                  <a:srgbClr val="E6E6E6"/>
                </a:solidFill>
              </a:defRPr>
            </a:pPr>
            <a:r>
              <a:t>   └─[1 to N]→ INVENTARIS (Satu lab memiliki banyak perangkat)</a:t>
            </a:r>
          </a:p>
          <a:p>
            <a:pPr>
              <a:spcBef>
                <a:spcPts val="400"/>
              </a:spcBef>
              <a:defRPr sz="1300">
                <a:solidFill>
                  <a:srgbClr val="E6E6E6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300">
                <a:solidFill>
                  <a:srgbClr val="E6E6E6"/>
                </a:solidFill>
              </a:defRPr>
            </a:pPr>
            <a:r>
              <a:t>2. MATA KULIAH (Pemrograman Web, Basis Data, dll)</a:t>
            </a:r>
          </a:p>
          <a:p>
            <a:pPr>
              <a:spcBef>
                <a:spcPts val="400"/>
              </a:spcBef>
              <a:defRPr sz="1300">
                <a:solidFill>
                  <a:srgbClr val="E6E6E6"/>
                </a:solidFill>
              </a:defRPr>
            </a:pPr>
            <a:r>
              <a:t>   └─[1 to N]→ JADWAL (Satu matkul punya banyak sesi)</a:t>
            </a:r>
          </a:p>
          <a:p>
            <a:pPr>
              <a:spcBef>
                <a:spcPts val="400"/>
              </a:spcBef>
              <a:defRPr sz="1300">
                <a:solidFill>
                  <a:srgbClr val="E6E6E6"/>
                </a:solidFill>
              </a:defRPr>
            </a:pPr>
            <a:r>
              <a:t>   └─[1 to N]→ ABSENSI (Satu matkul punya banyak presensi)</a:t>
            </a:r>
          </a:p>
          <a:p>
            <a:pPr>
              <a:spcBef>
                <a:spcPts val="400"/>
              </a:spcBef>
              <a:defRPr sz="1300">
                <a:solidFill>
                  <a:srgbClr val="E6E6E6"/>
                </a:solidFill>
              </a:defRPr>
            </a:pPr>
            <a:r>
              <a:t>   └─[1 to N]→ MODUL (Satu matkul punya banyak jobsheet)</a:t>
            </a:r>
          </a:p>
          <a:p>
            <a:pPr>
              <a:spcBef>
                <a:spcPts val="400"/>
              </a:spcBef>
              <a:defRPr sz="1300">
                <a:solidFill>
                  <a:srgbClr val="E6E6E6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300">
                <a:solidFill>
                  <a:srgbClr val="E6E6E6"/>
                </a:solidFill>
              </a:defRPr>
            </a:pPr>
            <a:r>
              <a:t>3. MAHASISWA</a:t>
            </a:r>
          </a:p>
          <a:p>
            <a:pPr>
              <a:spcBef>
                <a:spcPts val="400"/>
              </a:spcBef>
              <a:defRPr sz="1300">
                <a:solidFill>
                  <a:srgbClr val="E6E6E6"/>
                </a:solidFill>
              </a:defRPr>
            </a:pPr>
            <a:r>
              <a:t>   └─[1 to 1]→ HASIL NILAI (Satu mahasiswa punya satu transkrip per matkul)</a:t>
            </a:r>
          </a:p>
          <a:p>
            <a:pPr>
              <a:spcBef>
                <a:spcPts val="400"/>
              </a:spcBef>
              <a:defRPr sz="1300">
                <a:solidFill>
                  <a:srgbClr val="E6E6E6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300">
                <a:solidFill>
                  <a:srgbClr val="E6E6E6"/>
                </a:solidFill>
              </a:defRPr>
            </a:pPr>
            <a:r>
              <a:t>🔑 PRIMARY KEY (PK): ID unik setiap tabel (id_lab, id_jadwal, dll)</a:t>
            </a:r>
          </a:p>
          <a:p>
            <a:pPr>
              <a:spcBef>
                <a:spcPts val="400"/>
              </a:spcBef>
              <a:defRPr sz="1300">
                <a:solidFill>
                  <a:srgbClr val="E6E6E6"/>
                </a:solidFill>
              </a:defRPr>
            </a:pPr>
            <a:r>
              <a:t>🔗 FOREIGN KEY (FK): Kunci relasi antar tabel untuk konsistensi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B308"/>
                </a:solidFill>
              </a:defRPr>
            </a:pPr>
            <a:r>
              <a:t>2️⃣ HIRARKI CHART - STRUKTUR ORGANISASI SILAB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📊 STRUKTUR AKSES &amp; OTORITAS SISTEM: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┌─────────────────────────────────────┐</a:t>
            </a:r>
          </a:p>
          <a:p>
            <a:pPr>
              <a:spcBef>
                <a:spcPts val="200"/>
              </a:spcBef>
              <a:defRPr sz="1100" b="1">
                <a:solidFill>
                  <a:srgbClr val="DCDCDC"/>
                </a:solidFill>
                <a:latin typeface="Consolas"/>
              </a:defRPr>
            </a:pPr>
            <a:r>
              <a:t>│  👑 LABORAN ADMIN (Super User)      │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│  ✅ Full Access Control Center       │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│  ✅ Kelola Semua Lab &amp; Jadwal        │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│  ✅ Manage Inventaris &amp; Aset         │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│  ✅ Override Konflik Jadwal          │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└──────────────┬──────────────────────┘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               │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        ┌──────┴──────┐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        │             │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┌───────▼──────┐ ┌───▼────────────┐</a:t>
            </a:r>
          </a:p>
          <a:p>
            <a:pPr>
              <a:spcBef>
                <a:spcPts val="200"/>
              </a:spcBef>
              <a:defRPr sz="1100" b="1">
                <a:solidFill>
                  <a:srgbClr val="DCDCDC"/>
                </a:solidFill>
                <a:latin typeface="Consolas"/>
              </a:defRPr>
            </a:pPr>
            <a:r>
              <a:t>│ 🎓 ASDOS #1   │ │ 🎓 ASDOS #2    │  ... hingga ASDOS #5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│ Prog. Web     │ │ Basis Data     │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├───────────────┤ ├────────────────┤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│ Akses Scope:  │ │ Akses Scope:   │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│ • Lab Sendiri │ │ • Lab Sendiri  │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│ • Input Nilai │ │ • Input Nilai  │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│ • Presensi    │ │ • Presensi     │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│ • Upload Modul│ │ • Upload Modul │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└───────────────┘ └────────────────┘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🔒 ASDOS tidak bisa mengakses data ASDOS lain (Isolated Scope)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t>⚙️ Admin bisa manage semua data tanpa pembatasan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AB308"/>
                </a:solidFill>
              </a:defRPr>
            </a:pPr>
            <a:r>
              <a:t>3️⃣ DFD LEVEL 1 - ALUR DATA SISTEM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📊 Data Flow Diagram Level 1 </a:t>
            </a:r>
            <a:r>
              <a:rPr dirty="0" err="1"/>
              <a:t>menjelaskan</a:t>
            </a:r>
            <a:r>
              <a:rPr dirty="0"/>
              <a:t> </a:t>
            </a:r>
            <a:r>
              <a:rPr dirty="0" err="1"/>
              <a:t>alur</a:t>
            </a:r>
            <a:r>
              <a:rPr dirty="0"/>
              <a:t> data detail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setiap</a:t>
            </a:r>
            <a:r>
              <a:rPr dirty="0"/>
              <a:t> proses: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F2FE"/>
                </a:solidFill>
              </a:defRPr>
            </a:pPr>
            <a:r>
              <a:rPr dirty="0"/>
              <a:t>🔄 PROSES 1: MANAJEMEN MATA KULIAH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INPUT: Data </a:t>
            </a:r>
            <a:r>
              <a:rPr dirty="0" err="1"/>
              <a:t>Matkul</a:t>
            </a:r>
            <a:r>
              <a:rPr dirty="0"/>
              <a:t>, Kode, SKS, Dosen </a:t>
            </a:r>
            <a:r>
              <a:rPr dirty="0" err="1"/>
              <a:t>Pengampu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PROSES: </a:t>
            </a:r>
            <a:r>
              <a:rPr dirty="0" err="1"/>
              <a:t>Validasi</a:t>
            </a:r>
            <a:r>
              <a:rPr dirty="0"/>
              <a:t> &amp; </a:t>
            </a:r>
            <a:r>
              <a:rPr dirty="0" err="1"/>
              <a:t>Simpan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Database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OUTPUT: Master Data Mata </a:t>
            </a:r>
            <a:r>
              <a:rPr dirty="0" err="1"/>
              <a:t>Kuliah</a:t>
            </a:r>
            <a:r>
              <a:rPr dirty="0"/>
              <a:t> UIR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STORAGE: Tabel [</a:t>
            </a:r>
            <a:r>
              <a:rPr dirty="0" err="1"/>
              <a:t>matkul</a:t>
            </a:r>
            <a:r>
              <a:rPr dirty="0"/>
              <a:t>]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F2FE"/>
                </a:solidFill>
              </a:defRPr>
            </a:pPr>
            <a:r>
              <a:rPr dirty="0"/>
              <a:t>🔄 PROSES 2: PENJADWALAN LABORATORIUM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INPUT: </a:t>
            </a:r>
            <a:r>
              <a:rPr dirty="0" err="1"/>
              <a:t>Pilih</a:t>
            </a:r>
            <a:r>
              <a:rPr dirty="0"/>
              <a:t> Lab, </a:t>
            </a:r>
            <a:r>
              <a:rPr dirty="0" err="1"/>
              <a:t>Matkul</a:t>
            </a:r>
            <a:r>
              <a:rPr dirty="0"/>
              <a:t>, Hari, Jam, </a:t>
            </a:r>
            <a:r>
              <a:rPr dirty="0" err="1"/>
              <a:t>Asisten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PROSES: </a:t>
            </a:r>
            <a:r>
              <a:rPr dirty="0" err="1"/>
              <a:t>Deteksi</a:t>
            </a:r>
            <a:r>
              <a:rPr dirty="0"/>
              <a:t> </a:t>
            </a:r>
            <a:r>
              <a:rPr dirty="0" err="1"/>
              <a:t>Bentrok</a:t>
            </a:r>
            <a:r>
              <a:rPr dirty="0"/>
              <a:t> Jadwal → </a:t>
            </a:r>
            <a:r>
              <a:rPr dirty="0" err="1"/>
              <a:t>Konfirmasi</a:t>
            </a:r>
            <a:r>
              <a:rPr dirty="0"/>
              <a:t> Admin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OUTPUT: Jadwal </a:t>
            </a:r>
            <a:r>
              <a:rPr dirty="0" err="1"/>
              <a:t>Operasional</a:t>
            </a:r>
            <a:r>
              <a:rPr dirty="0"/>
              <a:t> 5 Lab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STORAGE: Tabel [</a:t>
            </a:r>
            <a:r>
              <a:rPr dirty="0" err="1"/>
              <a:t>jadwal</a:t>
            </a:r>
            <a:r>
              <a:rPr dirty="0"/>
              <a:t>] + Update Status [labs]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F2FE"/>
                </a:solidFill>
              </a:defRPr>
            </a:pPr>
            <a:r>
              <a:rPr dirty="0"/>
              <a:t>🔄 PROSES 3: PRESENSI &amp; MATERI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INPUT: NIM, Nama, Status </a:t>
            </a:r>
            <a:r>
              <a:rPr dirty="0" err="1"/>
              <a:t>Kehadiran</a:t>
            </a:r>
            <a:r>
              <a:rPr dirty="0"/>
              <a:t>, </a:t>
            </a:r>
            <a:r>
              <a:rPr dirty="0" err="1"/>
              <a:t>Pertemuan</a:t>
            </a:r>
            <a:r>
              <a:rPr dirty="0"/>
              <a:t>, Materi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PROSES: </a:t>
            </a:r>
            <a:r>
              <a:rPr dirty="0" err="1"/>
              <a:t>Referensi</a:t>
            </a:r>
            <a:r>
              <a:rPr dirty="0"/>
              <a:t> Cerdas Auto-Suggest Materi per </a:t>
            </a:r>
            <a:r>
              <a:rPr dirty="0" err="1"/>
              <a:t>Matkul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OUTPUT: Log </a:t>
            </a:r>
            <a:r>
              <a:rPr dirty="0" err="1"/>
              <a:t>Kehadiran</a:t>
            </a:r>
            <a:r>
              <a:rPr dirty="0"/>
              <a:t> </a:t>
            </a:r>
            <a:r>
              <a:rPr dirty="0" err="1"/>
              <a:t>Praktikum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STORAGE: Tabel [</a:t>
            </a:r>
            <a:r>
              <a:rPr dirty="0" err="1"/>
              <a:t>absensi</a:t>
            </a:r>
            <a:r>
              <a:rPr dirty="0"/>
              <a:t>]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F2FE"/>
                </a:solidFill>
              </a:defRPr>
            </a:pPr>
            <a:r>
              <a:rPr dirty="0"/>
              <a:t>🔄 PROSES 4: REKAPITULASI NILAI AKHIR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INPUT: NIM, Nilai </a:t>
            </a:r>
            <a:r>
              <a:rPr dirty="0" err="1"/>
              <a:t>Tugas</a:t>
            </a:r>
            <a:r>
              <a:rPr dirty="0"/>
              <a:t> (40%), Nilai </a:t>
            </a:r>
            <a:r>
              <a:rPr dirty="0" err="1"/>
              <a:t>Ujian</a:t>
            </a:r>
            <a:r>
              <a:rPr dirty="0"/>
              <a:t> (60%)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PROSES: </a:t>
            </a:r>
            <a:r>
              <a:rPr dirty="0" err="1"/>
              <a:t>Hitung</a:t>
            </a:r>
            <a:r>
              <a:rPr dirty="0"/>
              <a:t> Nilai Akhir = (0.4 × </a:t>
            </a:r>
            <a:r>
              <a:rPr dirty="0" err="1"/>
              <a:t>Tugas</a:t>
            </a:r>
            <a:r>
              <a:rPr dirty="0"/>
              <a:t>) + (0.6 × </a:t>
            </a:r>
            <a:r>
              <a:rPr dirty="0" err="1"/>
              <a:t>Ujian</a:t>
            </a:r>
            <a:r>
              <a:rPr dirty="0"/>
              <a:t>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OUTPUT: </a:t>
            </a:r>
            <a:r>
              <a:rPr dirty="0" err="1"/>
              <a:t>Transkrip</a:t>
            </a:r>
            <a:r>
              <a:rPr dirty="0"/>
              <a:t> Hasil </a:t>
            </a:r>
            <a:r>
              <a:rPr dirty="0" err="1"/>
              <a:t>Praktikum</a:t>
            </a:r>
            <a:r>
              <a:rPr dirty="0"/>
              <a:t> &amp; Status </a:t>
            </a:r>
            <a:r>
              <a:rPr dirty="0" err="1"/>
              <a:t>Kelulusan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STORAGE: Tabel [</a:t>
            </a:r>
            <a:r>
              <a:rPr dirty="0" err="1"/>
              <a:t>hasil</a:t>
            </a:r>
            <a:r>
              <a:rPr dirty="0"/>
              <a:t>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B308"/>
                </a:solidFill>
              </a:defRPr>
            </a:pPr>
            <a:r>
              <a:t>4️⃣ DFD LEVEL 2 - DETAIL PROSES INVENTARIS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6633"/>
                </a:solidFill>
              </a:defRPr>
            </a:pPr>
            <a:r>
              <a:rPr dirty="0"/>
              <a:t>💻 MANAJEMEN INVENTARIS &amp; ASET LABORATORIUM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6633"/>
                </a:solidFill>
              </a:defRPr>
            </a:pPr>
            <a:r>
              <a:rPr dirty="0"/>
              <a:t>📥 INPUT DATA: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Kode Aset (Ex: AST-L1-PC, AST-L3-CS)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Nama </a:t>
            </a:r>
            <a:r>
              <a:rPr dirty="0" err="1"/>
              <a:t>Perangkat</a:t>
            </a:r>
            <a:r>
              <a:rPr dirty="0"/>
              <a:t> (PC Workstation, Cisco Router, GPU RTX 4080)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</a:t>
            </a:r>
            <a:r>
              <a:rPr dirty="0" err="1"/>
              <a:t>Laboratorium</a:t>
            </a:r>
            <a:r>
              <a:rPr dirty="0"/>
              <a:t> </a:t>
            </a:r>
            <a:r>
              <a:rPr dirty="0" err="1"/>
              <a:t>Penempatan</a:t>
            </a:r>
            <a:r>
              <a:rPr dirty="0"/>
              <a:t> (Lab 1 - Lab 5)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</a:t>
            </a:r>
            <a:r>
              <a:rPr dirty="0" err="1"/>
              <a:t>Jumlah</a:t>
            </a:r>
            <a:r>
              <a:rPr dirty="0"/>
              <a:t> Unit (Ex: 40 Unit di Lab 1)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</a:t>
            </a:r>
            <a:r>
              <a:rPr dirty="0" err="1"/>
              <a:t>Kondisi</a:t>
            </a:r>
            <a:r>
              <a:rPr dirty="0"/>
              <a:t> (Bagus / </a:t>
            </a:r>
            <a:r>
              <a:rPr dirty="0" err="1"/>
              <a:t>Perlu</a:t>
            </a:r>
            <a:r>
              <a:rPr dirty="0"/>
              <a:t> </a:t>
            </a:r>
            <a:r>
              <a:rPr dirty="0" err="1"/>
              <a:t>Perbaikan</a:t>
            </a:r>
            <a:r>
              <a:rPr dirty="0"/>
              <a:t> / Rusak)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</a:t>
            </a:r>
            <a:r>
              <a:rPr dirty="0" err="1"/>
              <a:t>Fungsionalitas</a:t>
            </a:r>
            <a:r>
              <a:rPr dirty="0"/>
              <a:t> (</a:t>
            </a:r>
            <a:r>
              <a:rPr dirty="0" err="1"/>
              <a:t>Fungsional</a:t>
            </a:r>
            <a:r>
              <a:rPr dirty="0"/>
              <a:t> / Non-</a:t>
            </a:r>
            <a:r>
              <a:rPr dirty="0" err="1"/>
              <a:t>Fungsional</a:t>
            </a:r>
            <a:r>
              <a:rPr dirty="0"/>
              <a:t>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</a:t>
            </a:r>
            <a:r>
              <a:rPr dirty="0" err="1"/>
              <a:t>Keterangan</a:t>
            </a:r>
            <a:r>
              <a:rPr dirty="0"/>
              <a:t> </a:t>
            </a:r>
            <a:r>
              <a:rPr dirty="0" err="1"/>
              <a:t>Spesifikasi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6633"/>
                </a:solidFill>
              </a:defRPr>
            </a:pPr>
            <a:r>
              <a:rPr dirty="0"/>
              <a:t>⚙️ PROSES VALIDASI: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1. Cek </a:t>
            </a:r>
            <a:r>
              <a:rPr dirty="0" err="1"/>
              <a:t>Duplikasi</a:t>
            </a:r>
            <a:r>
              <a:rPr dirty="0"/>
              <a:t> Kode Aset per Lab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2. </a:t>
            </a:r>
            <a:r>
              <a:rPr dirty="0" err="1"/>
              <a:t>Validasi</a:t>
            </a:r>
            <a:r>
              <a:rPr dirty="0"/>
              <a:t> </a:t>
            </a:r>
            <a:r>
              <a:rPr dirty="0" err="1"/>
              <a:t>Kondisi</a:t>
            </a:r>
            <a:r>
              <a:rPr dirty="0"/>
              <a:t> vs </a:t>
            </a:r>
            <a:r>
              <a:rPr dirty="0" err="1"/>
              <a:t>Fungsionalitas</a:t>
            </a:r>
            <a:r>
              <a:rPr dirty="0"/>
              <a:t> (Logic Check)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3. Update Total Unit per Lab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4. Generate </a:t>
            </a:r>
            <a:r>
              <a:rPr dirty="0" err="1"/>
              <a:t>Laporan</a:t>
            </a:r>
            <a:r>
              <a:rPr dirty="0"/>
              <a:t> Status Aset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6633"/>
                </a:solidFill>
              </a:defRPr>
            </a:pPr>
            <a:r>
              <a:rPr dirty="0"/>
              <a:t>📊 OUTPUT &amp; STORAGE: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Tabel [</a:t>
            </a:r>
            <a:r>
              <a:rPr dirty="0" err="1"/>
              <a:t>inventaris</a:t>
            </a:r>
            <a:r>
              <a:rPr dirty="0"/>
              <a:t>] → Database </a:t>
            </a:r>
            <a:r>
              <a:rPr dirty="0" err="1"/>
              <a:t>Relasional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Dashboard Metrics: Total 180 Unit, 162 Bagus, 12 </a:t>
            </a:r>
            <a:r>
              <a:rPr dirty="0" err="1"/>
              <a:t>Perbaikan</a:t>
            </a:r>
            <a:r>
              <a:rPr dirty="0"/>
              <a:t>, 6 Rusak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Filter &amp; Search by Lab / </a:t>
            </a:r>
            <a:r>
              <a:rPr dirty="0" err="1"/>
              <a:t>Kondisi</a:t>
            </a:r>
            <a:r>
              <a:rPr dirty="0"/>
              <a:t> / Nama </a:t>
            </a:r>
            <a:r>
              <a:rPr dirty="0" err="1"/>
              <a:t>Perangkat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6633"/>
                </a:solidFill>
              </a:defRPr>
            </a:pPr>
            <a:r>
              <a:rPr dirty="0"/>
              <a:t>🔍 FITUR KHUSUS: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✅ Real-time Percentage Calculation (% </a:t>
            </a:r>
            <a:r>
              <a:rPr dirty="0" err="1"/>
              <a:t>Kondisi</a:t>
            </a:r>
            <a:r>
              <a:rPr dirty="0"/>
              <a:t> Bagus)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✅ Alert System </a:t>
            </a:r>
            <a:r>
              <a:rPr dirty="0" err="1"/>
              <a:t>untuk</a:t>
            </a:r>
            <a:r>
              <a:rPr dirty="0"/>
              <a:t> Aset </a:t>
            </a:r>
            <a:r>
              <a:rPr dirty="0" err="1"/>
              <a:t>Butuh</a:t>
            </a:r>
            <a:r>
              <a:rPr dirty="0"/>
              <a:t> </a:t>
            </a:r>
            <a:r>
              <a:rPr dirty="0" err="1"/>
              <a:t>Perbaikan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B308"/>
                </a:solidFill>
              </a:defRPr>
            </a:pPr>
            <a:r>
              <a:t>5️⃣ USE CASE DIAGRAM - INTERAKSI PENGGUNA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endParaRPr dirty="0"/>
          </a:p>
          <a:p>
            <a:pPr>
              <a:spcBef>
                <a:spcPts val="300"/>
              </a:spcBef>
              <a:defRPr sz="1150" b="1">
                <a:solidFill>
                  <a:srgbClr val="00F2FE"/>
                </a:solidFill>
              </a:defRPr>
            </a:pPr>
            <a:r>
              <a:rPr dirty="0"/>
              <a:t>👤 AKTOR SISTEM:</a:t>
            </a:r>
          </a:p>
          <a:p>
            <a:pPr>
              <a:spcBef>
                <a:spcPts val="300"/>
              </a:spcBef>
              <a:defRPr sz="1150">
                <a:solidFill>
                  <a:srgbClr val="E6E6E6"/>
                </a:solidFill>
              </a:defRPr>
            </a:pPr>
            <a:r>
              <a:rPr dirty="0"/>
              <a:t>   1. 🛡️ ADMIN LABORAN (Super User)</a:t>
            </a:r>
          </a:p>
          <a:p>
            <a:pPr>
              <a:spcBef>
                <a:spcPts val="300"/>
              </a:spcBef>
              <a:defRPr sz="1150">
                <a:solidFill>
                  <a:srgbClr val="E6E6E6"/>
                </a:solidFill>
              </a:defRPr>
            </a:pPr>
            <a:r>
              <a:rPr dirty="0"/>
              <a:t>   2. 🎓 ASISTEN LAB / ASDOS (Restricted User)</a:t>
            </a:r>
          </a:p>
          <a:p>
            <a:pPr>
              <a:spcBef>
                <a:spcPts val="300"/>
              </a:spcBef>
              <a:defRPr sz="115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150" b="1">
                <a:solidFill>
                  <a:srgbClr val="00F2FE"/>
                </a:solidFill>
              </a:defRPr>
            </a:pPr>
            <a:r>
              <a:rPr dirty="0"/>
              <a:t>📋 USE CASE - ADMIN LABORAN:</a:t>
            </a:r>
          </a:p>
          <a:p>
            <a:pPr>
              <a:spcBef>
                <a:spcPts val="300"/>
              </a:spcBef>
              <a:defRPr sz="1150">
                <a:solidFill>
                  <a:srgbClr val="E6E6E6"/>
                </a:solidFill>
              </a:defRPr>
            </a:pPr>
            <a:r>
              <a:rPr dirty="0"/>
              <a:t>   ✅ UC-01: Login Portal Admin (NIP + Password + PIN Security)</a:t>
            </a:r>
          </a:p>
          <a:p>
            <a:pPr>
              <a:spcBef>
                <a:spcPts val="300"/>
              </a:spcBef>
              <a:defRPr sz="1150">
                <a:solidFill>
                  <a:srgbClr val="E6E6E6"/>
                </a:solidFill>
              </a:defRPr>
            </a:pPr>
            <a:r>
              <a:rPr dirty="0"/>
              <a:t>   ✅ UC-02: Kelola Mata </a:t>
            </a:r>
            <a:r>
              <a:rPr dirty="0" err="1"/>
              <a:t>Kuliah</a:t>
            </a:r>
            <a:r>
              <a:rPr dirty="0"/>
              <a:t> (</a:t>
            </a:r>
            <a:r>
              <a:rPr dirty="0" err="1"/>
              <a:t>Tambah</a:t>
            </a:r>
            <a:r>
              <a:rPr dirty="0"/>
              <a:t> / Edit / Hapus </a:t>
            </a:r>
            <a:r>
              <a:rPr dirty="0" err="1"/>
              <a:t>Matkul</a:t>
            </a:r>
            <a:r>
              <a:rPr dirty="0"/>
              <a:t>)</a:t>
            </a:r>
          </a:p>
          <a:p>
            <a:pPr>
              <a:spcBef>
                <a:spcPts val="300"/>
              </a:spcBef>
              <a:defRPr sz="1150">
                <a:solidFill>
                  <a:srgbClr val="E6E6E6"/>
                </a:solidFill>
              </a:defRPr>
            </a:pPr>
            <a:r>
              <a:rPr dirty="0"/>
              <a:t>   ✅ UC-03: Kelola Jadwal 5 Lab (</a:t>
            </a:r>
            <a:r>
              <a:rPr dirty="0" err="1"/>
              <a:t>Tambah</a:t>
            </a:r>
            <a:r>
              <a:rPr dirty="0"/>
              <a:t> / Hapus / Override </a:t>
            </a:r>
            <a:r>
              <a:rPr dirty="0" err="1"/>
              <a:t>Bentrok</a:t>
            </a:r>
            <a:r>
              <a:rPr dirty="0"/>
              <a:t>)</a:t>
            </a:r>
          </a:p>
          <a:p>
            <a:pPr>
              <a:spcBef>
                <a:spcPts val="300"/>
              </a:spcBef>
              <a:defRPr sz="1150">
                <a:solidFill>
                  <a:srgbClr val="E6E6E6"/>
                </a:solidFill>
              </a:defRPr>
            </a:pPr>
            <a:r>
              <a:rPr dirty="0"/>
              <a:t>   ✅ UC-04: Kelola </a:t>
            </a:r>
            <a:r>
              <a:rPr dirty="0" err="1"/>
              <a:t>Inventaris</a:t>
            </a:r>
            <a:r>
              <a:rPr dirty="0"/>
              <a:t> Aset (CRUD </a:t>
            </a:r>
            <a:r>
              <a:rPr dirty="0" err="1"/>
              <a:t>Perangkat</a:t>
            </a:r>
            <a:r>
              <a:rPr dirty="0"/>
              <a:t> Lab)</a:t>
            </a:r>
          </a:p>
          <a:p>
            <a:pPr>
              <a:spcBef>
                <a:spcPts val="300"/>
              </a:spcBef>
              <a:defRPr sz="1150">
                <a:solidFill>
                  <a:srgbClr val="E6E6E6"/>
                </a:solidFill>
              </a:defRPr>
            </a:pPr>
            <a:r>
              <a:rPr dirty="0"/>
              <a:t>   ✅ UC-05: Monitor Dashboard Real-Time (Status 5 Lab)</a:t>
            </a:r>
          </a:p>
          <a:p>
            <a:pPr>
              <a:spcBef>
                <a:spcPts val="300"/>
              </a:spcBef>
              <a:defRPr sz="1150">
                <a:solidFill>
                  <a:srgbClr val="E6E6E6"/>
                </a:solidFill>
              </a:defRPr>
            </a:pPr>
            <a:r>
              <a:rPr dirty="0"/>
              <a:t>   ✅ UC-06: </a:t>
            </a:r>
            <a:r>
              <a:rPr dirty="0" err="1"/>
              <a:t>Lihat</a:t>
            </a:r>
            <a:r>
              <a:rPr dirty="0"/>
              <a:t> </a:t>
            </a:r>
            <a:r>
              <a:rPr dirty="0" err="1"/>
              <a:t>Laporan</a:t>
            </a:r>
            <a:r>
              <a:rPr dirty="0"/>
              <a:t> </a:t>
            </a:r>
            <a:r>
              <a:rPr dirty="0" err="1"/>
              <a:t>Presensi</a:t>
            </a:r>
            <a:r>
              <a:rPr dirty="0"/>
              <a:t> &amp; Nilai </a:t>
            </a:r>
            <a:r>
              <a:rPr dirty="0" err="1"/>
              <a:t>Semua</a:t>
            </a:r>
            <a:r>
              <a:rPr dirty="0"/>
              <a:t> ASDOS</a:t>
            </a:r>
          </a:p>
          <a:p>
            <a:pPr>
              <a:spcBef>
                <a:spcPts val="300"/>
              </a:spcBef>
              <a:defRPr sz="1150">
                <a:solidFill>
                  <a:srgbClr val="E6E6E6"/>
                </a:solidFill>
              </a:defRPr>
            </a:pPr>
            <a:r>
              <a:rPr dirty="0"/>
              <a:t>   ✅ UC-07: Manage Akun ASDOS (</a:t>
            </a:r>
            <a:r>
              <a:rPr dirty="0" err="1"/>
              <a:t>Tambah</a:t>
            </a:r>
            <a:r>
              <a:rPr dirty="0"/>
              <a:t> / </a:t>
            </a:r>
            <a:r>
              <a:rPr dirty="0" err="1"/>
              <a:t>Nonaktifkan</a:t>
            </a:r>
            <a:r>
              <a:rPr dirty="0"/>
              <a:t>)</a:t>
            </a:r>
          </a:p>
          <a:p>
            <a:pPr>
              <a:spcBef>
                <a:spcPts val="300"/>
              </a:spcBef>
              <a:defRPr sz="115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150" b="1">
                <a:solidFill>
                  <a:srgbClr val="00F2FE"/>
                </a:solidFill>
              </a:defRPr>
            </a:pPr>
            <a:r>
              <a:rPr dirty="0"/>
              <a:t>📋 USE CASE - ASISTEN LAB (ASDOS):</a:t>
            </a:r>
          </a:p>
          <a:p>
            <a:pPr>
              <a:spcBef>
                <a:spcPts val="300"/>
              </a:spcBef>
              <a:defRPr sz="1150">
                <a:solidFill>
                  <a:srgbClr val="E6E6E6"/>
                </a:solidFill>
              </a:defRPr>
            </a:pPr>
            <a:r>
              <a:rPr dirty="0"/>
              <a:t>   ✅ UC-11: Login Portal ASDOS (NIM + Password + Kode Unik)</a:t>
            </a:r>
          </a:p>
          <a:p>
            <a:pPr>
              <a:spcBef>
                <a:spcPts val="300"/>
              </a:spcBef>
              <a:defRPr sz="1150">
                <a:solidFill>
                  <a:srgbClr val="E6E6E6"/>
                </a:solidFill>
              </a:defRPr>
            </a:pPr>
            <a:r>
              <a:rPr dirty="0"/>
              <a:t>   ✅ UC-12: Input </a:t>
            </a:r>
            <a:r>
              <a:rPr dirty="0" err="1"/>
              <a:t>Presensi</a:t>
            </a:r>
            <a:r>
              <a:rPr dirty="0"/>
              <a:t> </a:t>
            </a:r>
            <a:r>
              <a:rPr dirty="0" err="1"/>
              <a:t>Mahasiswa</a:t>
            </a:r>
            <a:r>
              <a:rPr dirty="0"/>
              <a:t> </a:t>
            </a:r>
            <a:r>
              <a:rPr dirty="0" err="1"/>
              <a:t>Kelas</a:t>
            </a:r>
            <a:r>
              <a:rPr dirty="0"/>
              <a:t> </a:t>
            </a:r>
            <a:r>
              <a:rPr dirty="0" err="1"/>
              <a:t>Sendiri</a:t>
            </a:r>
            <a:endParaRPr dirty="0"/>
          </a:p>
          <a:p>
            <a:pPr>
              <a:spcBef>
                <a:spcPts val="300"/>
              </a:spcBef>
              <a:defRPr sz="1150">
                <a:solidFill>
                  <a:srgbClr val="E6E6E6"/>
                </a:solidFill>
              </a:defRPr>
            </a:pPr>
            <a:r>
              <a:rPr dirty="0"/>
              <a:t>   ✅ UC-13: Upload Modul </a:t>
            </a:r>
            <a:r>
              <a:rPr dirty="0" err="1"/>
              <a:t>Praktikum</a:t>
            </a:r>
            <a:r>
              <a:rPr dirty="0"/>
              <a:t> / </a:t>
            </a:r>
            <a:r>
              <a:rPr dirty="0" err="1"/>
              <a:t>Jobsheet</a:t>
            </a:r>
            <a:endParaRPr dirty="0"/>
          </a:p>
          <a:p>
            <a:pPr>
              <a:spcBef>
                <a:spcPts val="300"/>
              </a:spcBef>
              <a:defRPr sz="1150">
                <a:solidFill>
                  <a:srgbClr val="E6E6E6"/>
                </a:solidFill>
              </a:defRPr>
            </a:pPr>
            <a:r>
              <a:rPr dirty="0"/>
              <a:t>   ✅ UC-14: Entry Nilai </a:t>
            </a:r>
            <a:r>
              <a:rPr dirty="0" err="1"/>
              <a:t>Tugas</a:t>
            </a:r>
            <a:r>
              <a:rPr dirty="0"/>
              <a:t> &amp; </a:t>
            </a:r>
            <a:r>
              <a:rPr dirty="0" err="1"/>
              <a:t>Ujian</a:t>
            </a:r>
            <a:r>
              <a:rPr dirty="0"/>
              <a:t> (</a:t>
            </a:r>
            <a:r>
              <a:rPr dirty="0" err="1"/>
              <a:t>Rumus</a:t>
            </a:r>
            <a:r>
              <a:rPr dirty="0"/>
              <a:t> 40-60)</a:t>
            </a:r>
          </a:p>
          <a:p>
            <a:pPr>
              <a:spcBef>
                <a:spcPts val="300"/>
              </a:spcBef>
              <a:defRPr sz="1150">
                <a:solidFill>
                  <a:srgbClr val="E6E6E6"/>
                </a:solidFill>
              </a:defRPr>
            </a:pPr>
            <a:r>
              <a:rPr dirty="0"/>
              <a:t>   ✅ UC-15: </a:t>
            </a:r>
            <a:r>
              <a:rPr dirty="0" err="1"/>
              <a:t>Lihat</a:t>
            </a:r>
            <a:r>
              <a:rPr dirty="0"/>
              <a:t> Dashboard </a:t>
            </a:r>
            <a:r>
              <a:rPr dirty="0" err="1"/>
              <a:t>Terisolasi</a:t>
            </a:r>
            <a:r>
              <a:rPr dirty="0"/>
              <a:t> (Hanya Data </a:t>
            </a:r>
            <a:r>
              <a:rPr dirty="0" err="1"/>
              <a:t>Matkul</a:t>
            </a:r>
            <a:r>
              <a:rPr dirty="0"/>
              <a:t> </a:t>
            </a:r>
            <a:r>
              <a:rPr dirty="0" err="1"/>
              <a:t>Sendiri</a:t>
            </a:r>
            <a:r>
              <a:rPr dirty="0"/>
              <a:t>)</a:t>
            </a:r>
          </a:p>
          <a:p>
            <a:pPr>
              <a:spcBef>
                <a:spcPts val="300"/>
              </a:spcBef>
              <a:defRPr sz="1150">
                <a:solidFill>
                  <a:srgbClr val="E6E6E6"/>
                </a:solidFill>
              </a:defRPr>
            </a:pPr>
            <a:r>
              <a:rPr dirty="0"/>
              <a:t>   ✅ UC-16: Download </a:t>
            </a:r>
            <a:r>
              <a:rPr dirty="0" err="1"/>
              <a:t>Rekap</a:t>
            </a:r>
            <a:r>
              <a:rPr dirty="0"/>
              <a:t> </a:t>
            </a:r>
            <a:r>
              <a:rPr dirty="0" err="1"/>
              <a:t>Presensi</a:t>
            </a:r>
            <a:r>
              <a:rPr dirty="0"/>
              <a:t> &amp; Nilai </a:t>
            </a:r>
            <a:r>
              <a:rPr dirty="0" err="1"/>
              <a:t>Kelas</a:t>
            </a:r>
            <a:r>
              <a:rPr dirty="0"/>
              <a:t> </a:t>
            </a:r>
            <a:r>
              <a:rPr dirty="0" err="1"/>
              <a:t>Sendiri</a:t>
            </a:r>
            <a:endParaRPr dirty="0"/>
          </a:p>
          <a:p>
            <a:pPr>
              <a:spcBef>
                <a:spcPts val="300"/>
              </a:spcBef>
              <a:defRPr sz="115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150" b="1">
                <a:solidFill>
                  <a:srgbClr val="00F2FE"/>
                </a:solidFill>
              </a:defRPr>
            </a:pPr>
            <a:r>
              <a:rPr dirty="0"/>
              <a:t>🔗 RELASI:</a:t>
            </a:r>
          </a:p>
          <a:p>
            <a:pPr>
              <a:spcBef>
                <a:spcPts val="300"/>
              </a:spcBef>
              <a:defRPr sz="1150">
                <a:solidFill>
                  <a:srgbClr val="E6E6E6"/>
                </a:solidFill>
              </a:defRPr>
            </a:pPr>
            <a:r>
              <a:rPr dirty="0"/>
              <a:t>   • &lt;&lt;extend&gt;&gt; UC-03 </a:t>
            </a:r>
            <a:r>
              <a:rPr dirty="0" err="1"/>
              <a:t>Konfirmasi</a:t>
            </a:r>
            <a:r>
              <a:rPr dirty="0"/>
              <a:t> </a:t>
            </a:r>
            <a:r>
              <a:rPr dirty="0" err="1"/>
              <a:t>Bentrok</a:t>
            </a:r>
            <a:r>
              <a:rPr dirty="0"/>
              <a:t> Jadwal (Only Admin)</a:t>
            </a:r>
          </a:p>
          <a:p>
            <a:pPr>
              <a:spcBef>
                <a:spcPts val="300"/>
              </a:spcBef>
              <a:defRPr sz="1150">
                <a:solidFill>
                  <a:srgbClr val="E6E6E6"/>
                </a:solidFill>
              </a:defRPr>
            </a:pPr>
            <a:r>
              <a:rPr dirty="0"/>
              <a:t>   • &lt;&lt;include&gt;&gt; UC-02 &amp; UC-03 </a:t>
            </a:r>
            <a:r>
              <a:rPr dirty="0" err="1"/>
              <a:t>butuh</a:t>
            </a:r>
            <a:r>
              <a:rPr dirty="0"/>
              <a:t> UC-01 (Authentication Required)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B308"/>
                </a:solidFill>
              </a:defRPr>
            </a:pPr>
            <a:r>
              <a:t>6️⃣ CLASS DIAGRAM - STRUKTUR DATA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endParaRPr dirty="0"/>
          </a:p>
          <a:p>
            <a:pPr>
              <a:spcBef>
                <a:spcPts val="200"/>
              </a:spcBef>
              <a:defRPr sz="1050" b="1">
                <a:solidFill>
                  <a:srgbClr val="006633"/>
                </a:solidFill>
                <a:latin typeface="Consolas"/>
              </a:defRPr>
            </a:pPr>
            <a:r>
              <a:rPr dirty="0"/>
              <a:t>🏗️ STRUKTUR CLASS OBJECT ORIENTED: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endParaRPr dirty="0"/>
          </a:p>
          <a:p>
            <a:pPr>
              <a:spcBef>
                <a:spcPts val="200"/>
              </a:spcBef>
              <a:defRPr sz="1050" b="1">
                <a:solidFill>
                  <a:srgbClr val="006633"/>
                </a:solidFill>
                <a:latin typeface="Consolas"/>
              </a:defRPr>
            </a:pPr>
            <a:r>
              <a:rPr dirty="0"/>
              <a:t>📦 CLASS: </a:t>
            </a:r>
            <a:r>
              <a:rPr dirty="0" err="1"/>
              <a:t>Laboratorium</a:t>
            </a:r>
            <a:endParaRPr dirty="0"/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ATTRIBUTES: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id_lab</a:t>
            </a:r>
            <a:r>
              <a:rPr dirty="0"/>
              <a:t>: Integer (PK)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nama_lab</a:t>
            </a:r>
            <a:r>
              <a:rPr dirty="0"/>
              <a:t>: String ('Lab 1' - 'Lab 5')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kapasitas</a:t>
            </a:r>
            <a:r>
              <a:rPr dirty="0"/>
              <a:t>: Integer (Max PC Workstations)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status: Enum ('</a:t>
            </a:r>
            <a:r>
              <a:rPr dirty="0" err="1"/>
              <a:t>Tersedia</a:t>
            </a:r>
            <a:r>
              <a:rPr dirty="0"/>
              <a:t>', 'Sedang', 'Maintenance')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keterangan</a:t>
            </a:r>
            <a:r>
              <a:rPr dirty="0"/>
              <a:t>: String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METHODS: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updateStatus</a:t>
            </a:r>
            <a:r>
              <a:rPr dirty="0"/>
              <a:t>(</a:t>
            </a:r>
            <a:r>
              <a:rPr dirty="0" err="1"/>
              <a:t>newStatus</a:t>
            </a:r>
            <a:r>
              <a:rPr dirty="0"/>
              <a:t>: String): void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getJadwalAktif</a:t>
            </a:r>
            <a:r>
              <a:rPr dirty="0"/>
              <a:t>(): Array&lt;Jadwal&gt;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endParaRPr dirty="0"/>
          </a:p>
          <a:p>
            <a:pPr>
              <a:spcBef>
                <a:spcPts val="200"/>
              </a:spcBef>
              <a:defRPr sz="1050" b="1">
                <a:solidFill>
                  <a:srgbClr val="006633"/>
                </a:solidFill>
                <a:latin typeface="Consolas"/>
              </a:defRPr>
            </a:pPr>
            <a:r>
              <a:rPr dirty="0"/>
              <a:t>📦 CLASS: Jadwal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ATTRIBUTES: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id_jadwal</a:t>
            </a:r>
            <a:r>
              <a:rPr dirty="0"/>
              <a:t>: Integer (PK)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id_lab</a:t>
            </a:r>
            <a:r>
              <a:rPr dirty="0"/>
              <a:t>: Integer (FK → </a:t>
            </a:r>
            <a:r>
              <a:rPr dirty="0" err="1"/>
              <a:t>Laboratorium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id_matkul</a:t>
            </a:r>
            <a:r>
              <a:rPr dirty="0"/>
              <a:t>: Integer (FK → </a:t>
            </a:r>
            <a:r>
              <a:rPr dirty="0" err="1"/>
              <a:t>MataKuliah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hari</a:t>
            </a:r>
            <a:r>
              <a:rPr dirty="0"/>
              <a:t>: String ('Senin' - 'Jumat')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jam: String ('08:00 - 10:30 WIB')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asisten</a:t>
            </a:r>
            <a:r>
              <a:rPr dirty="0"/>
              <a:t>: String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status: String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METHODS: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cekBentrokJadwal</a:t>
            </a:r>
            <a:r>
              <a:rPr dirty="0"/>
              <a:t>(</a:t>
            </a:r>
            <a:r>
              <a:rPr dirty="0" err="1"/>
              <a:t>hari</a:t>
            </a:r>
            <a:r>
              <a:rPr dirty="0"/>
              <a:t>, jam): Boolean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konfirmasiJadwal</a:t>
            </a:r>
            <a:r>
              <a:rPr dirty="0"/>
              <a:t>(): void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endParaRPr dirty="0"/>
          </a:p>
          <a:p>
            <a:pPr>
              <a:spcBef>
                <a:spcPts val="200"/>
              </a:spcBef>
              <a:defRPr sz="1050" b="1">
                <a:solidFill>
                  <a:srgbClr val="006633"/>
                </a:solidFill>
                <a:latin typeface="Consolas"/>
              </a:defRPr>
            </a:pPr>
            <a:r>
              <a:rPr dirty="0"/>
              <a:t>📦 CLASS: </a:t>
            </a:r>
            <a:r>
              <a:rPr dirty="0" err="1"/>
              <a:t>Absensi</a:t>
            </a:r>
            <a:endParaRPr dirty="0"/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ATTRIBUTES: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id_absensi</a:t>
            </a:r>
            <a:r>
              <a:rPr dirty="0"/>
              <a:t>: Integer (PK)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nim: String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nama_mahasiswa</a:t>
            </a:r>
            <a:r>
              <a:rPr dirty="0"/>
              <a:t>: String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id_matkul</a:t>
            </a:r>
            <a:r>
              <a:rPr dirty="0"/>
              <a:t>: Integer (FK → </a:t>
            </a:r>
            <a:r>
              <a:rPr dirty="0" err="1"/>
              <a:t>MataKuliah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pertemuan</a:t>
            </a:r>
            <a:r>
              <a:rPr dirty="0"/>
              <a:t>: String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materi</a:t>
            </a:r>
            <a:r>
              <a:rPr dirty="0"/>
              <a:t>: String (Auto-Suggest Smart Reference)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status: Enum ('Hadir', '</a:t>
            </a:r>
            <a:r>
              <a:rPr dirty="0" err="1"/>
              <a:t>Izin</a:t>
            </a:r>
            <a:r>
              <a:rPr dirty="0"/>
              <a:t>', 'Sakit', 'Alpha')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METHODS: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hitungPersentaseKehadiran</a:t>
            </a:r>
            <a:r>
              <a:rPr dirty="0"/>
              <a:t>(): Float</a:t>
            </a:r>
          </a:p>
          <a:p>
            <a:pPr>
              <a:spcBef>
                <a:spcPts val="200"/>
              </a:spcBef>
              <a:defRPr sz="10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getSuggestedMateri</a:t>
            </a:r>
            <a:r>
              <a:rPr dirty="0"/>
              <a:t>(</a:t>
            </a:r>
            <a:r>
              <a:rPr dirty="0" err="1"/>
              <a:t>matkul</a:t>
            </a:r>
            <a:r>
              <a:rPr dirty="0"/>
              <a:t>, </a:t>
            </a:r>
            <a:r>
              <a:rPr dirty="0" err="1"/>
              <a:t>pertemuan</a:t>
            </a:r>
            <a:r>
              <a:rPr dirty="0"/>
              <a:t>): String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B308"/>
                </a:solidFill>
              </a:defRPr>
            </a:pPr>
            <a:r>
              <a:t>7️⃣ ACTIVITY DIAGRAM - ALUR INPUT PRESENSI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502920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endParaRPr dirty="0"/>
          </a:p>
          <a:p>
            <a:pPr>
              <a:spcBef>
                <a:spcPts val="200"/>
              </a:spcBef>
              <a:defRPr sz="1100" b="1">
                <a:solidFill>
                  <a:srgbClr val="00F2FE"/>
                </a:solidFill>
                <a:latin typeface="Consolas"/>
              </a:defRPr>
            </a:pPr>
            <a:r>
              <a:rPr dirty="0"/>
              <a:t>🔄 ALUR AKTIVITAS: INPUT PRESENSI MAHASISWA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endParaRPr dirty="0"/>
          </a:p>
          <a:p>
            <a:pPr>
              <a:spcBef>
                <a:spcPts val="200"/>
              </a:spcBef>
              <a:defRPr sz="1100" b="1">
                <a:solidFill>
                  <a:srgbClr val="00F2FE"/>
                </a:solidFill>
                <a:latin typeface="Consolas"/>
              </a:defRPr>
            </a:pPr>
            <a:r>
              <a:rPr dirty="0"/>
              <a:t>🟢 START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   ↓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1️⃣ ASDOS Login </a:t>
            </a:r>
            <a:r>
              <a:rPr dirty="0" err="1"/>
              <a:t>ke</a:t>
            </a:r>
            <a:r>
              <a:rPr dirty="0"/>
              <a:t> Portal (Authentication)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   ↓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2️⃣ </a:t>
            </a:r>
            <a:r>
              <a:rPr dirty="0" err="1"/>
              <a:t>Pilih</a:t>
            </a:r>
            <a:r>
              <a:rPr dirty="0"/>
              <a:t> Menu '</a:t>
            </a:r>
            <a:r>
              <a:rPr dirty="0" err="1"/>
              <a:t>Absensi</a:t>
            </a:r>
            <a:r>
              <a:rPr dirty="0"/>
              <a:t> &amp; Materi'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   ↓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3️⃣ </a:t>
            </a:r>
            <a:r>
              <a:rPr dirty="0" err="1"/>
              <a:t>Klik</a:t>
            </a:r>
            <a:r>
              <a:rPr dirty="0"/>
              <a:t> </a:t>
            </a:r>
            <a:r>
              <a:rPr dirty="0" err="1"/>
              <a:t>Tombol</a:t>
            </a:r>
            <a:r>
              <a:rPr dirty="0"/>
              <a:t> '+ Input </a:t>
            </a:r>
            <a:r>
              <a:rPr dirty="0" err="1"/>
              <a:t>Presensi</a:t>
            </a:r>
            <a:r>
              <a:rPr dirty="0"/>
              <a:t> </a:t>
            </a:r>
            <a:r>
              <a:rPr dirty="0" err="1"/>
              <a:t>Mahasiswa</a:t>
            </a:r>
            <a:r>
              <a:rPr dirty="0"/>
              <a:t>'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   ↓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4️⃣ Modal Form Terbuka </a:t>
            </a:r>
            <a:r>
              <a:rPr dirty="0" err="1"/>
              <a:t>dengan</a:t>
            </a:r>
            <a:r>
              <a:rPr dirty="0"/>
              <a:t> Filter Auto-Preset: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   • Dropdown Mata </a:t>
            </a:r>
            <a:r>
              <a:rPr dirty="0" err="1"/>
              <a:t>Kuliah</a:t>
            </a:r>
            <a:r>
              <a:rPr dirty="0"/>
              <a:t>: [</a:t>
            </a:r>
            <a:r>
              <a:rPr dirty="0" err="1"/>
              <a:t>Otomatis</a:t>
            </a:r>
            <a:r>
              <a:rPr dirty="0"/>
              <a:t> </a:t>
            </a:r>
            <a:r>
              <a:rPr dirty="0" err="1"/>
              <a:t>terisi</a:t>
            </a:r>
            <a:r>
              <a:rPr dirty="0"/>
              <a:t> </a:t>
            </a:r>
            <a:r>
              <a:rPr dirty="0" err="1"/>
              <a:t>Matkul</a:t>
            </a:r>
            <a:r>
              <a:rPr dirty="0"/>
              <a:t> ASDOS]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   • Dropdown </a:t>
            </a:r>
            <a:r>
              <a:rPr dirty="0" err="1"/>
              <a:t>Pertemuan</a:t>
            </a:r>
            <a:r>
              <a:rPr dirty="0"/>
              <a:t>: [</a:t>
            </a:r>
            <a:r>
              <a:rPr dirty="0" err="1"/>
              <a:t>Pertemuan</a:t>
            </a:r>
            <a:r>
              <a:rPr dirty="0"/>
              <a:t> 1 - 14]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   ↓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5️⃣ ASDOS </a:t>
            </a:r>
            <a:r>
              <a:rPr dirty="0" err="1"/>
              <a:t>Pilih</a:t>
            </a:r>
            <a:r>
              <a:rPr dirty="0"/>
              <a:t> </a:t>
            </a:r>
            <a:r>
              <a:rPr dirty="0" err="1"/>
              <a:t>Pertemuan</a:t>
            </a:r>
            <a:r>
              <a:rPr dirty="0"/>
              <a:t> (Ex: </a:t>
            </a:r>
            <a:r>
              <a:rPr dirty="0" err="1"/>
              <a:t>Pertemuan</a:t>
            </a:r>
            <a:r>
              <a:rPr dirty="0"/>
              <a:t> 3)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   ↓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6️⃣ SISTEM Trigger 'Smart Material Reference':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   → Auto-suggest Materi </a:t>
            </a:r>
            <a:r>
              <a:rPr dirty="0" err="1"/>
              <a:t>sesuai</a:t>
            </a:r>
            <a:r>
              <a:rPr dirty="0"/>
              <a:t> </a:t>
            </a:r>
            <a:r>
              <a:rPr dirty="0" err="1"/>
              <a:t>Matkul</a:t>
            </a:r>
            <a:r>
              <a:rPr dirty="0"/>
              <a:t> &amp; </a:t>
            </a:r>
            <a:r>
              <a:rPr dirty="0" err="1"/>
              <a:t>Pertemuan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   → Ex: '</a:t>
            </a:r>
            <a:r>
              <a:rPr dirty="0" err="1"/>
              <a:t>Pemrograman</a:t>
            </a:r>
            <a:r>
              <a:rPr dirty="0"/>
              <a:t> Web' + '</a:t>
            </a:r>
            <a:r>
              <a:rPr dirty="0" err="1"/>
              <a:t>Pertemuan</a:t>
            </a:r>
            <a:r>
              <a:rPr dirty="0"/>
              <a:t> 3'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       → Suggested: 'CSS Variables, </a:t>
            </a:r>
            <a:r>
              <a:rPr dirty="0" err="1"/>
              <a:t>Glassmorphism</a:t>
            </a:r>
            <a:r>
              <a:rPr dirty="0"/>
              <a:t> UI &amp; Animations'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   ↓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7️⃣ ASDOS Input Data </a:t>
            </a:r>
            <a:r>
              <a:rPr dirty="0" err="1"/>
              <a:t>Mahasiswa</a:t>
            </a:r>
            <a:r>
              <a:rPr dirty="0"/>
              <a:t>: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   • NIM (Ex: 21IF001)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   • Nama </a:t>
            </a:r>
            <a:r>
              <a:rPr dirty="0" err="1"/>
              <a:t>Lengkap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   • Status </a:t>
            </a:r>
            <a:r>
              <a:rPr dirty="0" err="1"/>
              <a:t>Kehadiran</a:t>
            </a:r>
            <a:r>
              <a:rPr dirty="0"/>
              <a:t>: [Hadir / </a:t>
            </a:r>
            <a:r>
              <a:rPr dirty="0" err="1"/>
              <a:t>Izin</a:t>
            </a:r>
            <a:r>
              <a:rPr dirty="0"/>
              <a:t> / Sakit / Alpha]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   ↓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8️⃣ </a:t>
            </a:r>
            <a:r>
              <a:rPr dirty="0" err="1"/>
              <a:t>Validasi</a:t>
            </a:r>
            <a:r>
              <a:rPr dirty="0"/>
              <a:t> Input (NIM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boleh</a:t>
            </a:r>
            <a:r>
              <a:rPr dirty="0"/>
              <a:t> </a:t>
            </a:r>
            <a:r>
              <a:rPr dirty="0" err="1"/>
              <a:t>duplikat</a:t>
            </a:r>
            <a:r>
              <a:rPr dirty="0"/>
              <a:t> di </a:t>
            </a:r>
            <a:r>
              <a:rPr dirty="0" err="1"/>
              <a:t>pertemuan</a:t>
            </a:r>
            <a:r>
              <a:rPr dirty="0"/>
              <a:t> yang </a:t>
            </a:r>
            <a:r>
              <a:rPr dirty="0" err="1"/>
              <a:t>sama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defRPr sz="1100" b="1">
                <a:solidFill>
                  <a:srgbClr val="00F2FE"/>
                </a:solidFill>
                <a:latin typeface="Consolas"/>
              </a:defRPr>
            </a:pPr>
            <a:r>
              <a:rPr dirty="0"/>
              <a:t>   ├─ ❌ INVALID → </a:t>
            </a:r>
            <a:r>
              <a:rPr dirty="0" err="1"/>
              <a:t>Tampilkan</a:t>
            </a:r>
            <a:r>
              <a:rPr dirty="0"/>
              <a:t> Error Toast</a:t>
            </a:r>
          </a:p>
          <a:p>
            <a:pPr>
              <a:spcBef>
                <a:spcPts val="200"/>
              </a:spcBef>
              <a:defRPr sz="1100" b="1">
                <a:solidFill>
                  <a:srgbClr val="00F2FE"/>
                </a:solidFill>
                <a:latin typeface="Consolas"/>
              </a:defRPr>
            </a:pPr>
            <a:r>
              <a:rPr dirty="0"/>
              <a:t>   └─ ✅ VALID → </a:t>
            </a:r>
            <a:r>
              <a:rPr dirty="0" err="1"/>
              <a:t>Lanjut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   ↓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9️⃣ </a:t>
            </a:r>
            <a:r>
              <a:rPr dirty="0" err="1"/>
              <a:t>Simpan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Database [Tabel: </a:t>
            </a:r>
            <a:r>
              <a:rPr dirty="0" err="1"/>
              <a:t>absensi</a:t>
            </a:r>
            <a:r>
              <a:rPr dirty="0"/>
              <a:t>]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   ↓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🔟 Refresh Tabel </a:t>
            </a:r>
            <a:r>
              <a:rPr dirty="0" err="1"/>
              <a:t>Presensi</a:t>
            </a:r>
            <a:r>
              <a:rPr dirty="0"/>
              <a:t> &amp; Update Metrics Dashboard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   ↓</a:t>
            </a:r>
          </a:p>
          <a:p>
            <a:pPr>
              <a:spcBef>
                <a:spcPts val="200"/>
              </a:spcBef>
              <a:defRPr sz="1100" b="1">
                <a:solidFill>
                  <a:srgbClr val="00F2FE"/>
                </a:solidFill>
                <a:latin typeface="Consolas"/>
              </a:defRPr>
            </a:pPr>
            <a:r>
              <a:rPr dirty="0"/>
              <a:t>✅ </a:t>
            </a:r>
            <a:r>
              <a:rPr dirty="0" err="1"/>
              <a:t>Tampilkan</a:t>
            </a:r>
            <a:r>
              <a:rPr dirty="0"/>
              <a:t> Toast Success: 'Data </a:t>
            </a:r>
            <a:r>
              <a:rPr dirty="0" err="1"/>
              <a:t>presensi</a:t>
            </a:r>
            <a:r>
              <a:rPr dirty="0"/>
              <a:t> </a:t>
            </a:r>
            <a:r>
              <a:rPr dirty="0" err="1"/>
              <a:t>berhasil</a:t>
            </a:r>
            <a:r>
              <a:rPr dirty="0"/>
              <a:t> </a:t>
            </a:r>
            <a:r>
              <a:rPr dirty="0" err="1"/>
              <a:t>disimpan</a:t>
            </a:r>
            <a:r>
              <a:rPr dirty="0"/>
              <a:t>!'</a:t>
            </a:r>
          </a:p>
          <a:p>
            <a:pPr>
              <a:spcBef>
                <a:spcPts val="200"/>
              </a:spcBef>
              <a:defRPr sz="1100">
                <a:solidFill>
                  <a:srgbClr val="DCDCDC"/>
                </a:solidFill>
                <a:latin typeface="Consolas"/>
              </a:defRPr>
            </a:pPr>
            <a:r>
              <a:rPr dirty="0"/>
              <a:t>   ↓</a:t>
            </a:r>
          </a:p>
          <a:p>
            <a:pPr>
              <a:spcBef>
                <a:spcPts val="200"/>
              </a:spcBef>
              <a:defRPr sz="1100" b="1">
                <a:solidFill>
                  <a:srgbClr val="00F2FE"/>
                </a:solidFill>
                <a:latin typeface="Consolas"/>
              </a:defRPr>
            </a:pPr>
            <a:r>
              <a:rPr dirty="0"/>
              <a:t>🔴 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B308"/>
                </a:solidFill>
              </a:defRPr>
            </a:pPr>
            <a:r>
              <a:t>8️⃣ ERD DETAIL - RELASI TABEL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endParaRPr dirty="0"/>
          </a:p>
          <a:p>
            <a:pPr>
              <a:spcBef>
                <a:spcPts val="100"/>
              </a:spcBef>
              <a:defRPr sz="950" b="1">
                <a:solidFill>
                  <a:srgbClr val="006633"/>
                </a:solidFill>
                <a:latin typeface="Consolas"/>
              </a:defRPr>
            </a:pPr>
            <a:r>
              <a:rPr dirty="0"/>
              <a:t>🗄️ STRUKTUR DATABASE RELASIONAL (</a:t>
            </a:r>
            <a:r>
              <a:rPr dirty="0" err="1"/>
              <a:t>Normalisasi</a:t>
            </a:r>
            <a:r>
              <a:rPr dirty="0"/>
              <a:t> 3NF):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endParaRPr dirty="0"/>
          </a:p>
          <a:p>
            <a:pPr>
              <a:spcBef>
                <a:spcPts val="100"/>
              </a:spcBef>
              <a:defRPr sz="950" b="1">
                <a:solidFill>
                  <a:srgbClr val="006633"/>
                </a:solidFill>
                <a:latin typeface="Consolas"/>
              </a:defRPr>
            </a:pPr>
            <a:r>
              <a:rPr dirty="0"/>
              <a:t>📊 TABEL 1: </a:t>
            </a:r>
            <a:r>
              <a:rPr dirty="0" err="1"/>
              <a:t>laboratorium</a:t>
            </a:r>
            <a:endParaRPr dirty="0"/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id_lab</a:t>
            </a:r>
            <a:r>
              <a:rPr dirty="0"/>
              <a:t> (INT, PK, AUTO_INCREMENT)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nama_lab</a:t>
            </a:r>
            <a:r>
              <a:rPr dirty="0"/>
              <a:t> (VARCHAR(50), UNIQUE)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kapasitas</a:t>
            </a:r>
            <a:r>
              <a:rPr dirty="0"/>
              <a:t> (INT)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status (ENUM: '</a:t>
            </a:r>
            <a:r>
              <a:rPr dirty="0" err="1"/>
              <a:t>tersedia</a:t>
            </a:r>
            <a:r>
              <a:rPr dirty="0"/>
              <a:t>', '</a:t>
            </a:r>
            <a:r>
              <a:rPr dirty="0" err="1"/>
              <a:t>sedang</a:t>
            </a:r>
            <a:r>
              <a:rPr dirty="0"/>
              <a:t>', 'maintenance')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keterangan</a:t>
            </a:r>
            <a:r>
              <a:rPr dirty="0"/>
              <a:t> (TEXT)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endParaRPr dirty="0"/>
          </a:p>
          <a:p>
            <a:pPr>
              <a:spcBef>
                <a:spcPts val="100"/>
              </a:spcBef>
              <a:defRPr sz="950" b="1">
                <a:solidFill>
                  <a:srgbClr val="006633"/>
                </a:solidFill>
                <a:latin typeface="Consolas"/>
              </a:defRPr>
            </a:pPr>
            <a:r>
              <a:rPr dirty="0"/>
              <a:t>📊 TABEL 2: </a:t>
            </a:r>
            <a:r>
              <a:rPr dirty="0" err="1"/>
              <a:t>matkul</a:t>
            </a:r>
            <a:r>
              <a:rPr dirty="0"/>
              <a:t> (Mata </a:t>
            </a:r>
            <a:r>
              <a:rPr dirty="0" err="1"/>
              <a:t>Kuliah</a:t>
            </a:r>
            <a:r>
              <a:rPr dirty="0"/>
              <a:t>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id_matkul</a:t>
            </a:r>
            <a:r>
              <a:rPr dirty="0"/>
              <a:t> (INT, PK, AUTO_INCREMENT)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kode_matkul</a:t>
            </a:r>
            <a:r>
              <a:rPr dirty="0"/>
              <a:t> (VARCHAR(10), UNIQUE)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nama_matkul</a:t>
            </a:r>
            <a:r>
              <a:rPr dirty="0"/>
              <a:t> (VARCHAR(100))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sks</a:t>
            </a:r>
            <a:r>
              <a:rPr dirty="0"/>
              <a:t> (INT)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dosen_pengampu</a:t>
            </a:r>
            <a:r>
              <a:rPr dirty="0"/>
              <a:t> (VARCHAR(100))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status (ENUM: '</a:t>
            </a:r>
            <a:r>
              <a:rPr dirty="0" err="1"/>
              <a:t>Aktif</a:t>
            </a:r>
            <a:r>
              <a:rPr dirty="0"/>
              <a:t>', '</a:t>
            </a:r>
            <a:r>
              <a:rPr dirty="0" err="1"/>
              <a:t>Nonaktif</a:t>
            </a:r>
            <a:r>
              <a:rPr dirty="0"/>
              <a:t>')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endParaRPr dirty="0"/>
          </a:p>
          <a:p>
            <a:pPr>
              <a:spcBef>
                <a:spcPts val="100"/>
              </a:spcBef>
              <a:defRPr sz="950" b="1">
                <a:solidFill>
                  <a:srgbClr val="006633"/>
                </a:solidFill>
                <a:latin typeface="Consolas"/>
              </a:defRPr>
            </a:pPr>
            <a:r>
              <a:rPr dirty="0"/>
              <a:t>📊 TABEL 3: </a:t>
            </a:r>
            <a:r>
              <a:rPr dirty="0" err="1"/>
              <a:t>jadwal</a:t>
            </a:r>
            <a:endParaRPr dirty="0"/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id_jadwal</a:t>
            </a:r>
            <a:r>
              <a:rPr dirty="0"/>
              <a:t> (INT, PK, AUTO_INCREMENT)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id_lab</a:t>
            </a:r>
            <a:r>
              <a:rPr dirty="0"/>
              <a:t> (INT, FK → </a:t>
            </a:r>
            <a:r>
              <a:rPr dirty="0" err="1"/>
              <a:t>laboratorium.id_lab</a:t>
            </a:r>
            <a:r>
              <a:rPr dirty="0"/>
              <a:t>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id_matkul</a:t>
            </a:r>
            <a:r>
              <a:rPr dirty="0"/>
              <a:t> (INT, FK → </a:t>
            </a:r>
            <a:r>
              <a:rPr dirty="0" err="1"/>
              <a:t>matkul.id_matkul</a:t>
            </a:r>
            <a:r>
              <a:rPr dirty="0"/>
              <a:t>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hari</a:t>
            </a:r>
            <a:r>
              <a:rPr dirty="0"/>
              <a:t> (ENUM: 'Senin' - 'Jumat')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jam (VARCHAR(30))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asisten</a:t>
            </a:r>
            <a:r>
              <a:rPr dirty="0"/>
              <a:t> (VARCHAR(100))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status (VARCHAR(20))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CONSTRAINT: UNIQUE(</a:t>
            </a:r>
            <a:r>
              <a:rPr dirty="0" err="1"/>
              <a:t>id_lab</a:t>
            </a:r>
            <a:r>
              <a:rPr dirty="0"/>
              <a:t>, </a:t>
            </a:r>
            <a:r>
              <a:rPr dirty="0" err="1"/>
              <a:t>hari</a:t>
            </a:r>
            <a:r>
              <a:rPr dirty="0"/>
              <a:t>, jam) → </a:t>
            </a:r>
            <a:r>
              <a:rPr dirty="0" err="1"/>
              <a:t>Cegah</a:t>
            </a:r>
            <a:r>
              <a:rPr dirty="0"/>
              <a:t> </a:t>
            </a:r>
            <a:r>
              <a:rPr dirty="0" err="1"/>
              <a:t>Bentrok</a:t>
            </a:r>
            <a:endParaRPr dirty="0"/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endParaRPr dirty="0"/>
          </a:p>
          <a:p>
            <a:pPr>
              <a:spcBef>
                <a:spcPts val="100"/>
              </a:spcBef>
              <a:defRPr sz="950" b="1">
                <a:solidFill>
                  <a:srgbClr val="006633"/>
                </a:solidFill>
                <a:latin typeface="Consolas"/>
              </a:defRPr>
            </a:pPr>
            <a:r>
              <a:rPr dirty="0"/>
              <a:t>📊 TABEL 4: </a:t>
            </a:r>
            <a:r>
              <a:rPr dirty="0" err="1"/>
              <a:t>inventaris</a:t>
            </a:r>
            <a:endParaRPr dirty="0"/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id_aset</a:t>
            </a:r>
            <a:r>
              <a:rPr dirty="0"/>
              <a:t> (INT, PK, AUTO_INCREMENT)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kode_aset</a:t>
            </a:r>
            <a:r>
              <a:rPr dirty="0"/>
              <a:t> (VARCHAR(20), UNIQUE)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nama_perangkat</a:t>
            </a:r>
            <a:r>
              <a:rPr dirty="0"/>
              <a:t> (VARCHAR(150))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id_lab</a:t>
            </a:r>
            <a:r>
              <a:rPr dirty="0"/>
              <a:t> (INT, FK → </a:t>
            </a:r>
            <a:r>
              <a:rPr dirty="0" err="1"/>
              <a:t>laboratorium.id_lab</a:t>
            </a:r>
            <a:r>
              <a:rPr dirty="0"/>
              <a:t>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jumlah</a:t>
            </a:r>
            <a:r>
              <a:rPr dirty="0"/>
              <a:t> (INT)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kondisi</a:t>
            </a:r>
            <a:r>
              <a:rPr dirty="0"/>
              <a:t> (ENUM: 'Bagus', '</a:t>
            </a:r>
            <a:r>
              <a:rPr dirty="0" err="1"/>
              <a:t>Perlu</a:t>
            </a:r>
            <a:r>
              <a:rPr dirty="0"/>
              <a:t> </a:t>
            </a:r>
            <a:r>
              <a:rPr dirty="0" err="1"/>
              <a:t>Perbaikan</a:t>
            </a:r>
            <a:r>
              <a:rPr dirty="0"/>
              <a:t>', 'Rusak')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fungsional</a:t>
            </a:r>
            <a:r>
              <a:rPr dirty="0"/>
              <a:t> (ENUM: '</a:t>
            </a:r>
            <a:r>
              <a:rPr dirty="0" err="1"/>
              <a:t>Fungsional</a:t>
            </a:r>
            <a:r>
              <a:rPr dirty="0"/>
              <a:t>', 'Non </a:t>
            </a:r>
            <a:r>
              <a:rPr dirty="0" err="1"/>
              <a:t>Fungsional</a:t>
            </a:r>
            <a:r>
              <a:rPr dirty="0"/>
              <a:t>')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endParaRPr dirty="0"/>
          </a:p>
          <a:p>
            <a:pPr>
              <a:spcBef>
                <a:spcPts val="100"/>
              </a:spcBef>
              <a:defRPr sz="950" b="1">
                <a:solidFill>
                  <a:srgbClr val="006633"/>
                </a:solidFill>
                <a:latin typeface="Consolas"/>
              </a:defRPr>
            </a:pPr>
            <a:r>
              <a:rPr dirty="0"/>
              <a:t>📊 TABEL 5: </a:t>
            </a:r>
            <a:r>
              <a:rPr dirty="0" err="1"/>
              <a:t>absensi</a:t>
            </a:r>
            <a:endParaRPr dirty="0"/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id_absensi</a:t>
            </a:r>
            <a:r>
              <a:rPr dirty="0"/>
              <a:t> (INT, PK, AUTO_INCREMENT)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nim (VARCHAR(20))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nama_mahasiswa</a:t>
            </a:r>
            <a:r>
              <a:rPr dirty="0"/>
              <a:t> (VARCHAR(100))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id_matkul</a:t>
            </a:r>
            <a:r>
              <a:rPr dirty="0"/>
              <a:t> (INT, FK → </a:t>
            </a:r>
            <a:r>
              <a:rPr dirty="0" err="1"/>
              <a:t>matkul.id_matkul</a:t>
            </a:r>
            <a:r>
              <a:rPr dirty="0"/>
              <a:t>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pertemuan</a:t>
            </a:r>
            <a:r>
              <a:rPr dirty="0"/>
              <a:t> (VARCHAR(20))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materi</a:t>
            </a:r>
            <a:r>
              <a:rPr dirty="0"/>
              <a:t> (TEXT)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waktu</a:t>
            </a:r>
            <a:r>
              <a:rPr dirty="0"/>
              <a:t> (VARCHAR(50))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status (ENUM: 'Hadir', '</a:t>
            </a:r>
            <a:r>
              <a:rPr dirty="0" err="1"/>
              <a:t>Izin</a:t>
            </a:r>
            <a:r>
              <a:rPr dirty="0"/>
              <a:t>', 'Sakit', 'Alpha')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CONSTRAINT: UNIQUE(nim, </a:t>
            </a:r>
            <a:r>
              <a:rPr dirty="0" err="1"/>
              <a:t>id_matkul</a:t>
            </a:r>
            <a:r>
              <a:rPr dirty="0"/>
              <a:t>, </a:t>
            </a:r>
            <a:r>
              <a:rPr dirty="0" err="1"/>
              <a:t>pertemuan</a:t>
            </a:r>
            <a:r>
              <a:rPr dirty="0"/>
              <a:t>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endParaRPr dirty="0"/>
          </a:p>
          <a:p>
            <a:pPr>
              <a:spcBef>
                <a:spcPts val="100"/>
              </a:spcBef>
              <a:defRPr sz="950" b="1">
                <a:solidFill>
                  <a:srgbClr val="006633"/>
                </a:solidFill>
                <a:latin typeface="Consolas"/>
              </a:defRPr>
            </a:pPr>
            <a:r>
              <a:rPr dirty="0"/>
              <a:t>📊 TABEL 6: </a:t>
            </a:r>
            <a:r>
              <a:rPr dirty="0" err="1"/>
              <a:t>hasil_nilai</a:t>
            </a:r>
            <a:endParaRPr dirty="0"/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id_hasil</a:t>
            </a:r>
            <a:r>
              <a:rPr dirty="0"/>
              <a:t> (INT, PK, AUTO_INCREMENT)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nim (VARCHAR(20))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nama_mahasiswa</a:t>
            </a:r>
            <a:r>
              <a:rPr dirty="0"/>
              <a:t> (VARCHAR(100))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id_matkul</a:t>
            </a:r>
            <a:r>
              <a:rPr dirty="0"/>
              <a:t> (INT, FK → </a:t>
            </a:r>
            <a:r>
              <a:rPr dirty="0" err="1"/>
              <a:t>matkul.id_matkul</a:t>
            </a:r>
            <a:r>
              <a:rPr dirty="0"/>
              <a:t>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nilai_tugas</a:t>
            </a:r>
            <a:r>
              <a:rPr dirty="0"/>
              <a:t> (DECIMAL(5,2))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nilai_ujian</a:t>
            </a:r>
            <a:r>
              <a:rPr dirty="0"/>
              <a:t> (DECIMAL(5,2))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nilai_akhir</a:t>
            </a:r>
            <a:r>
              <a:rPr dirty="0"/>
              <a:t> (DECIMAL(5,2), COMPUTED: 0.4*</a:t>
            </a:r>
            <a:r>
              <a:rPr dirty="0" err="1"/>
              <a:t>tugas</a:t>
            </a:r>
            <a:r>
              <a:rPr dirty="0"/>
              <a:t> + 0.6*</a:t>
            </a:r>
            <a:r>
              <a:rPr dirty="0" err="1"/>
              <a:t>ujian</a:t>
            </a:r>
            <a:r>
              <a:rPr dirty="0"/>
              <a:t>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• </a:t>
            </a:r>
            <a:r>
              <a:rPr dirty="0" err="1"/>
              <a:t>status_lulus</a:t>
            </a:r>
            <a:r>
              <a:rPr dirty="0"/>
              <a:t> (ENUM: 'Lulus', 'Tidak Lulus')</a:t>
            </a:r>
          </a:p>
          <a:p>
            <a:pPr>
              <a:spcBef>
                <a:spcPts val="100"/>
              </a:spcBef>
              <a:defRPr sz="950">
                <a:solidFill>
                  <a:srgbClr val="E6E6E6"/>
                </a:solidFill>
                <a:latin typeface="Consolas"/>
              </a:defRPr>
            </a:pPr>
            <a:r>
              <a:rPr dirty="0"/>
              <a:t>   CONSTRAINT: UNIQUE(nim, </a:t>
            </a:r>
            <a:r>
              <a:rPr dirty="0" err="1"/>
              <a:t>id_matkul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F2FE"/>
                </a:solidFill>
              </a:defRPr>
            </a:pPr>
            <a:r>
              <a:t>💻 TEKNOLOGI &amp; STACK IMPLEMENTASI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484632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EAB308"/>
                </a:solidFill>
              </a:defRPr>
            </a:pPr>
            <a:r>
              <a:rPr dirty="0"/>
              <a:t>🎨 FRONTEND: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HTML5 (Semantic Elements)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CSS3 Custom Properties (CSS Variables)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</a:t>
            </a:r>
            <a:r>
              <a:rPr dirty="0" err="1"/>
              <a:t>Glassmorphism</a:t>
            </a:r>
            <a:r>
              <a:rPr dirty="0"/>
              <a:t> Design System (backdrop-filter, blur effects)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Vanilla JavaScript ES6+ (No Framework)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Responsive Grid &amp; Flexbox Layout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EAB308"/>
                </a:solidFill>
              </a:defRPr>
            </a:pPr>
            <a:r>
              <a:rPr dirty="0"/>
              <a:t>⚙️ BACKEND (</a:t>
            </a:r>
            <a:r>
              <a:rPr dirty="0" err="1"/>
              <a:t>Konsep</a:t>
            </a:r>
            <a:r>
              <a:rPr dirty="0"/>
              <a:t> - Belum </a:t>
            </a:r>
            <a:r>
              <a:rPr dirty="0" err="1"/>
              <a:t>Implementasi</a:t>
            </a:r>
            <a:r>
              <a:rPr dirty="0"/>
              <a:t>):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Node.js + Express.js (REST API)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MySQL / PostgreSQL (Relational Database)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JWT Authentication (Admin vs ASDOS Role)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EAB308"/>
                </a:solidFill>
              </a:defRPr>
            </a:pPr>
            <a:r>
              <a:rPr dirty="0"/>
              <a:t>🗄️ DATA MANAGEMENT: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In-Memory JavaScript Object (</a:t>
            </a:r>
            <a:r>
              <a:rPr dirty="0" err="1"/>
              <a:t>db</a:t>
            </a:r>
            <a:r>
              <a:rPr dirty="0"/>
              <a:t>) </a:t>
            </a:r>
            <a:r>
              <a:rPr dirty="0" err="1"/>
              <a:t>untuk</a:t>
            </a:r>
            <a:r>
              <a:rPr dirty="0"/>
              <a:t> Demo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</a:t>
            </a:r>
            <a:r>
              <a:rPr dirty="0" err="1"/>
              <a:t>LocalStorage</a:t>
            </a:r>
            <a:r>
              <a:rPr dirty="0"/>
              <a:t> Browser (Persistent State - Optional)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Database Migration Ready (SQL Schema Prepared)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EAB308"/>
                </a:solidFill>
              </a:defRPr>
            </a:pPr>
            <a:r>
              <a:rPr dirty="0"/>
              <a:t>🔐 SECURITY FEATURES: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Multi-Role Authentication (Admin PIN + ASDOS Unique Code)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Isolated Data Scope per ASDOS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Input Validation &amp; Sanitization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Conflict Detection (Jadwal </a:t>
            </a:r>
            <a:r>
              <a:rPr dirty="0" err="1"/>
              <a:t>Bentrok</a:t>
            </a:r>
            <a:r>
              <a:rPr dirty="0"/>
              <a:t> Prevention)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EAB308"/>
                </a:solidFill>
              </a:defRPr>
            </a:pPr>
            <a:r>
              <a:rPr dirty="0"/>
              <a:t>🎯 UI/UX HIGHLIGHTS: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Real-Time Clock &amp; Status Indicators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Toast Notification System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Smart Material Reference (Auto-Suggest)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Ambient Glow Spheres Background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Sidebar Navigation + Breadcrumb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Modal Dialog Forms </a:t>
            </a:r>
            <a:r>
              <a:rPr dirty="0" err="1"/>
              <a:t>dengan</a:t>
            </a:r>
            <a:r>
              <a:rPr dirty="0"/>
              <a:t>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2FE"/>
                </a:solidFill>
              </a:defRPr>
            </a:pPr>
            <a:r>
              <a:t>⭐ FITUR UNGGULAN SILAB UIR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484632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6633"/>
                </a:solidFill>
              </a:defRPr>
            </a:pPr>
            <a:r>
              <a:rPr dirty="0"/>
              <a:t>✨ 1. SMART MATERIAL REFERENCE (</a:t>
            </a:r>
            <a:r>
              <a:rPr dirty="0" err="1"/>
              <a:t>Referensi</a:t>
            </a:r>
            <a:r>
              <a:rPr dirty="0"/>
              <a:t> Cerdas)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→ Auto-suggest </a:t>
            </a:r>
            <a:r>
              <a:rPr dirty="0" err="1"/>
              <a:t>materi</a:t>
            </a:r>
            <a:r>
              <a:rPr dirty="0"/>
              <a:t> </a:t>
            </a:r>
            <a:r>
              <a:rPr dirty="0" err="1"/>
              <a:t>praktikum</a:t>
            </a:r>
            <a:r>
              <a:rPr dirty="0"/>
              <a:t> </a:t>
            </a:r>
            <a:r>
              <a:rPr dirty="0" err="1"/>
              <a:t>berdasarkan</a:t>
            </a:r>
            <a:r>
              <a:rPr dirty="0"/>
              <a:t> Mata </a:t>
            </a:r>
            <a:r>
              <a:rPr dirty="0" err="1"/>
              <a:t>Kuliah</a:t>
            </a:r>
            <a:r>
              <a:rPr dirty="0"/>
              <a:t> &amp; </a:t>
            </a:r>
            <a:r>
              <a:rPr dirty="0" err="1"/>
              <a:t>Pertemuan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→ Ex: '</a:t>
            </a:r>
            <a:r>
              <a:rPr dirty="0" err="1"/>
              <a:t>Pemrograman</a:t>
            </a:r>
            <a:r>
              <a:rPr dirty="0"/>
              <a:t> Web' + '</a:t>
            </a:r>
            <a:r>
              <a:rPr dirty="0" err="1"/>
              <a:t>Pertemuan</a:t>
            </a:r>
            <a:r>
              <a:rPr dirty="0"/>
              <a:t> 2' → 'DOM Manipulation &amp; Event Listeners'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→ </a:t>
            </a:r>
            <a:r>
              <a:rPr dirty="0" err="1"/>
              <a:t>Mengurangi</a:t>
            </a:r>
            <a:r>
              <a:rPr dirty="0"/>
              <a:t> </a:t>
            </a:r>
            <a:r>
              <a:rPr dirty="0" err="1"/>
              <a:t>kesalahan</a:t>
            </a:r>
            <a:r>
              <a:rPr dirty="0"/>
              <a:t> entry &amp; </a:t>
            </a:r>
            <a:r>
              <a:rPr dirty="0" err="1"/>
              <a:t>mempercepat</a:t>
            </a:r>
            <a:r>
              <a:rPr dirty="0"/>
              <a:t> input data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6633"/>
                </a:solidFill>
              </a:defRPr>
            </a:pPr>
            <a:r>
              <a:rPr dirty="0"/>
              <a:t>✨ 2. CONFLICT DETECTION &amp; ADMIN OVERRIDE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→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deteksi</a:t>
            </a:r>
            <a:r>
              <a:rPr dirty="0"/>
              <a:t> </a:t>
            </a:r>
            <a:r>
              <a:rPr dirty="0" err="1"/>
              <a:t>otomatis</a:t>
            </a:r>
            <a:r>
              <a:rPr dirty="0"/>
              <a:t> </a:t>
            </a:r>
            <a:r>
              <a:rPr dirty="0" err="1"/>
              <a:t>jadwal</a:t>
            </a:r>
            <a:r>
              <a:rPr dirty="0"/>
              <a:t> </a:t>
            </a:r>
            <a:r>
              <a:rPr dirty="0" err="1"/>
              <a:t>bentrok</a:t>
            </a:r>
            <a:r>
              <a:rPr dirty="0"/>
              <a:t> (Lab + Hari + Jam </a:t>
            </a:r>
            <a:r>
              <a:rPr dirty="0" err="1"/>
              <a:t>sama</a:t>
            </a:r>
            <a:r>
              <a:rPr dirty="0"/>
              <a:t>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→ ASDOS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tambah</a:t>
            </a:r>
            <a:r>
              <a:rPr dirty="0"/>
              <a:t> </a:t>
            </a:r>
            <a:r>
              <a:rPr dirty="0" err="1"/>
              <a:t>jadwal</a:t>
            </a:r>
            <a:r>
              <a:rPr dirty="0"/>
              <a:t> </a:t>
            </a:r>
            <a:r>
              <a:rPr dirty="0" err="1"/>
              <a:t>bentrok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→ Admin </a:t>
            </a:r>
            <a:r>
              <a:rPr dirty="0" err="1"/>
              <a:t>bisa</a:t>
            </a:r>
            <a:r>
              <a:rPr dirty="0"/>
              <a:t> override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konfirmasi</a:t>
            </a:r>
            <a:r>
              <a:rPr dirty="0"/>
              <a:t> </a:t>
            </a:r>
            <a:r>
              <a:rPr dirty="0" err="1"/>
              <a:t>eksplisit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6633"/>
                </a:solidFill>
              </a:defRPr>
            </a:pPr>
            <a:r>
              <a:rPr dirty="0"/>
              <a:t>✨ 3. ISOLATED SCOPE ASDOS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→ ASDOS </a:t>
            </a:r>
            <a:r>
              <a:rPr dirty="0" err="1"/>
              <a:t>hanya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lihat</a:t>
            </a:r>
            <a:r>
              <a:rPr dirty="0"/>
              <a:t> &amp; edit data Mata </a:t>
            </a:r>
            <a:r>
              <a:rPr dirty="0" err="1"/>
              <a:t>Kuliah</a:t>
            </a:r>
            <a:r>
              <a:rPr dirty="0"/>
              <a:t> </a:t>
            </a:r>
            <a:r>
              <a:rPr dirty="0" err="1"/>
              <a:t>sendiri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→ Filter </a:t>
            </a:r>
            <a:r>
              <a:rPr dirty="0" err="1"/>
              <a:t>otomatis</a:t>
            </a:r>
            <a:r>
              <a:rPr dirty="0"/>
              <a:t> </a:t>
            </a:r>
            <a:r>
              <a:rPr dirty="0" err="1"/>
              <a:t>terpresets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Matkul</a:t>
            </a:r>
            <a:r>
              <a:rPr dirty="0"/>
              <a:t> assignment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→ Privacy &amp; Data Security </a:t>
            </a:r>
            <a:r>
              <a:rPr dirty="0" err="1"/>
              <a:t>terjaga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6633"/>
                </a:solidFill>
              </a:defRPr>
            </a:pPr>
            <a:r>
              <a:rPr dirty="0"/>
              <a:t>✨ 4. REAL-TIME DASHBOARD METRICS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→ Total Lab Operational (5 Lab)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→ Total </a:t>
            </a:r>
            <a:r>
              <a:rPr dirty="0" err="1"/>
              <a:t>Inventaris</a:t>
            </a:r>
            <a:r>
              <a:rPr dirty="0"/>
              <a:t> (180 Unit </a:t>
            </a:r>
            <a:r>
              <a:rPr dirty="0" err="1"/>
              <a:t>dengan</a:t>
            </a:r>
            <a:r>
              <a:rPr dirty="0"/>
              <a:t> breakdown </a:t>
            </a:r>
            <a:r>
              <a:rPr dirty="0" err="1"/>
              <a:t>kondisi</a:t>
            </a:r>
            <a:r>
              <a:rPr dirty="0"/>
              <a:t>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→ </a:t>
            </a:r>
            <a:r>
              <a:rPr dirty="0" err="1"/>
              <a:t>Persentase</a:t>
            </a:r>
            <a:r>
              <a:rPr dirty="0"/>
              <a:t> </a:t>
            </a:r>
            <a:r>
              <a:rPr dirty="0" err="1"/>
              <a:t>Kehadiran</a:t>
            </a:r>
            <a:r>
              <a:rPr dirty="0"/>
              <a:t> </a:t>
            </a:r>
            <a:r>
              <a:rPr dirty="0" err="1"/>
              <a:t>Praktikum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→ Live Activity Feed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6633"/>
                </a:solidFill>
              </a:defRPr>
            </a:pPr>
            <a:r>
              <a:rPr dirty="0"/>
              <a:t>✨ 5. GLASSMORPHISM MODERN UI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→ Backdrop blur effects </a:t>
            </a:r>
            <a:r>
              <a:rPr dirty="0" err="1"/>
              <a:t>untuk</a:t>
            </a:r>
            <a:r>
              <a:rPr dirty="0"/>
              <a:t> Glass Card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→ Ambient glow spheres background animation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→ Smooth transitions &amp; hover effects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→ Dark theme </a:t>
            </a:r>
            <a:r>
              <a:rPr dirty="0" err="1"/>
              <a:t>dengan</a:t>
            </a:r>
            <a:r>
              <a:rPr dirty="0"/>
              <a:t> UIR Green &amp; Gold accent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6633"/>
                </a:solidFill>
              </a:defRPr>
            </a:pPr>
            <a:r>
              <a:rPr dirty="0"/>
              <a:t>✨ 6. RESPONSIVE &amp; MOBILE-FRIENDLY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→ Grid layout yang </a:t>
            </a:r>
            <a:r>
              <a:rPr dirty="0" err="1"/>
              <a:t>adaptif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→ Sidebar collapsible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→ Touch-friendly button sizing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🎯 KESIMPULAN &amp; MANFAAT SISTEM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75488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F2FE"/>
                </a:solidFill>
              </a:defRPr>
            </a:pPr>
            <a:r>
              <a:rPr dirty="0"/>
              <a:t>📌 RINGKASAN: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Informasi</a:t>
            </a:r>
            <a:r>
              <a:rPr dirty="0"/>
              <a:t> </a:t>
            </a:r>
            <a:r>
              <a:rPr dirty="0" err="1"/>
              <a:t>Laboratorium</a:t>
            </a:r>
            <a:r>
              <a:rPr dirty="0"/>
              <a:t> (SILAB) UIR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solusi</a:t>
            </a:r>
            <a:r>
              <a:rPr dirty="0"/>
              <a:t> </a:t>
            </a:r>
            <a:r>
              <a:rPr dirty="0" err="1"/>
              <a:t>terpadu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mengelola</a:t>
            </a:r>
            <a:r>
              <a:rPr dirty="0"/>
              <a:t> 5 </a:t>
            </a:r>
            <a:r>
              <a:rPr dirty="0" err="1"/>
              <a:t>laboratorium</a:t>
            </a:r>
            <a:r>
              <a:rPr dirty="0"/>
              <a:t> </a:t>
            </a:r>
            <a:r>
              <a:rPr dirty="0" err="1"/>
              <a:t>komputer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efisien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fitur</a:t>
            </a:r>
            <a:r>
              <a:rPr dirty="0"/>
              <a:t> </a:t>
            </a:r>
            <a:r>
              <a:rPr dirty="0" err="1"/>
              <a:t>penjadwalan</a:t>
            </a:r>
            <a:r>
              <a:rPr dirty="0"/>
              <a:t>, </a:t>
            </a:r>
            <a:r>
              <a:rPr dirty="0" err="1"/>
              <a:t>presensi</a:t>
            </a:r>
            <a:r>
              <a:rPr dirty="0"/>
              <a:t>, </a:t>
            </a:r>
            <a:r>
              <a:rPr dirty="0" err="1"/>
              <a:t>inventaris</a:t>
            </a:r>
            <a:r>
              <a:rPr dirty="0"/>
              <a:t>, dan </a:t>
            </a:r>
            <a:r>
              <a:rPr dirty="0" err="1"/>
              <a:t>nilai</a:t>
            </a:r>
            <a:r>
              <a:rPr dirty="0"/>
              <a:t> </a:t>
            </a:r>
            <a:r>
              <a:rPr dirty="0" err="1"/>
              <a:t>terintegrasi</a:t>
            </a:r>
            <a:r>
              <a:rPr dirty="0"/>
              <a:t>.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F2FE"/>
                </a:solidFill>
              </a:defRPr>
            </a:pPr>
            <a:r>
              <a:rPr dirty="0"/>
              <a:t>💡 MANFAAT UTAMA: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F2FE"/>
                </a:solidFill>
              </a:defRPr>
            </a:pPr>
            <a:r>
              <a:rPr dirty="0"/>
              <a:t>✅ </a:t>
            </a:r>
            <a:r>
              <a:rPr dirty="0" err="1"/>
              <a:t>Efisiensi</a:t>
            </a:r>
            <a:r>
              <a:rPr dirty="0"/>
              <a:t> </a:t>
            </a:r>
            <a:r>
              <a:rPr dirty="0" err="1"/>
              <a:t>Operasional</a:t>
            </a:r>
            <a:r>
              <a:rPr dirty="0"/>
              <a:t>: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</a:t>
            </a:r>
            <a:r>
              <a:rPr dirty="0" err="1"/>
              <a:t>Otomasi</a:t>
            </a:r>
            <a:r>
              <a:rPr dirty="0"/>
              <a:t> </a:t>
            </a:r>
            <a:r>
              <a:rPr dirty="0" err="1"/>
              <a:t>penjadwalan</a:t>
            </a:r>
            <a:r>
              <a:rPr dirty="0"/>
              <a:t> &amp; </a:t>
            </a:r>
            <a:r>
              <a:rPr dirty="0" err="1"/>
              <a:t>deteksi</a:t>
            </a:r>
            <a:r>
              <a:rPr dirty="0"/>
              <a:t> </a:t>
            </a:r>
            <a:r>
              <a:rPr dirty="0" err="1"/>
              <a:t>konflik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Centralized data management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Real-time monitoring status lab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F2FE"/>
                </a:solidFill>
              </a:defRPr>
            </a:pPr>
            <a:r>
              <a:rPr dirty="0"/>
              <a:t>✅ </a:t>
            </a:r>
            <a:r>
              <a:rPr dirty="0" err="1"/>
              <a:t>Akurasi</a:t>
            </a:r>
            <a:r>
              <a:rPr dirty="0"/>
              <a:t> Data: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Smart reference </a:t>
            </a:r>
            <a:r>
              <a:rPr dirty="0" err="1"/>
              <a:t>untuk</a:t>
            </a:r>
            <a:r>
              <a:rPr dirty="0"/>
              <a:t> entry data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</a:t>
            </a:r>
            <a:r>
              <a:rPr dirty="0" err="1"/>
              <a:t>Validasi</a:t>
            </a:r>
            <a:r>
              <a:rPr dirty="0"/>
              <a:t> input </a:t>
            </a:r>
            <a:r>
              <a:rPr dirty="0" err="1"/>
              <a:t>otomatis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Constraint database </a:t>
            </a:r>
            <a:r>
              <a:rPr dirty="0" err="1"/>
              <a:t>mencegah</a:t>
            </a:r>
            <a:r>
              <a:rPr dirty="0"/>
              <a:t> </a:t>
            </a:r>
            <a:r>
              <a:rPr dirty="0" err="1"/>
              <a:t>duplikasi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F2FE"/>
                </a:solidFill>
              </a:defRPr>
            </a:pPr>
            <a:r>
              <a:rPr dirty="0"/>
              <a:t>✅ </a:t>
            </a:r>
            <a:r>
              <a:rPr dirty="0" err="1"/>
              <a:t>Keamanan</a:t>
            </a:r>
            <a:r>
              <a:rPr dirty="0"/>
              <a:t> &amp; Privacy: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Multi-role authentication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Isolated scope per ASDOS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Admin full control </a:t>
            </a:r>
            <a:r>
              <a:rPr dirty="0" err="1"/>
              <a:t>dengan</a:t>
            </a:r>
            <a:r>
              <a:rPr dirty="0"/>
              <a:t> override capability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F2FE"/>
                </a:solidFill>
              </a:defRPr>
            </a:pPr>
            <a:r>
              <a:rPr dirty="0"/>
              <a:t>✅ User Experience: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Modern </a:t>
            </a:r>
            <a:r>
              <a:rPr dirty="0" err="1"/>
              <a:t>glassmorphism</a:t>
            </a:r>
            <a:r>
              <a:rPr dirty="0"/>
              <a:t> UI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Intuitive navigation &amp; workflow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Responsive design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berbagai</a:t>
            </a:r>
            <a:r>
              <a:rPr dirty="0"/>
              <a:t> device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 b="1">
                <a:solidFill>
                  <a:srgbClr val="00F2FE"/>
                </a:solidFill>
              </a:defRPr>
            </a:pPr>
            <a:r>
              <a:rPr dirty="0"/>
              <a:t>🚀 PENGEMBANGAN KEDEPAN: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</a:t>
            </a:r>
            <a:r>
              <a:rPr dirty="0" err="1"/>
              <a:t>Implementasi</a:t>
            </a:r>
            <a:r>
              <a:rPr dirty="0"/>
              <a:t> Backend API (Node.js + MySQL)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Mobile App (Flutter/React Native)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Export Report (PDF / Excel)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Email Notification System</a:t>
            </a:r>
          </a:p>
          <a:p>
            <a:pPr>
              <a:spcBef>
                <a:spcPts val="400"/>
              </a:spcBef>
              <a:defRPr sz="1200">
                <a:solidFill>
                  <a:srgbClr val="E6E6E6"/>
                </a:solidFill>
              </a:defRPr>
            </a:pPr>
            <a:r>
              <a:rPr dirty="0"/>
              <a:t>   • QR Code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Presensi</a:t>
            </a:r>
            <a:r>
              <a:rPr dirty="0"/>
              <a:t> </a:t>
            </a:r>
            <a:r>
              <a:rPr dirty="0" err="1"/>
              <a:t>Otomatis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TERIMA KASIH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defRPr sz="1600">
                <a:solidFill>
                  <a:srgbClr val="B4B4B4"/>
                </a:solidFill>
              </a:defRPr>
            </a:pPr>
            <a:r>
              <a:t>Sistem Informasi Laboratorium</a:t>
            </a:r>
          </a:p>
          <a:p>
            <a:pPr algn="ctr">
              <a:spcBef>
                <a:spcPts val="600"/>
              </a:spcBef>
              <a:defRPr sz="1600">
                <a:solidFill>
                  <a:srgbClr val="B4B4B4"/>
                </a:solidFill>
              </a:defRPr>
            </a:pPr>
            <a:r>
              <a:t>Universitas Islam Riau (UIR) Pekanbaru</a:t>
            </a:r>
          </a:p>
          <a:p>
            <a:pPr algn="ctr">
              <a:spcBef>
                <a:spcPts val="600"/>
              </a:spcBef>
              <a:defRPr sz="1600">
                <a:solidFill>
                  <a:srgbClr val="B4B4B4"/>
                </a:solidFill>
              </a:defRPr>
            </a:pPr>
            <a:endParaRPr/>
          </a:p>
          <a:p>
            <a:pPr algn="ctr">
              <a:spcBef>
                <a:spcPts val="600"/>
              </a:spcBef>
              <a:defRPr sz="1600">
                <a:solidFill>
                  <a:srgbClr val="B4B4B4"/>
                </a:solidFill>
              </a:defRPr>
            </a:pPr>
            <a:r>
              <a:t>📧 Contact: lab.admin@uir.ac.id</a:t>
            </a:r>
          </a:p>
          <a:p>
            <a:pPr algn="ctr">
              <a:spcBef>
                <a:spcPts val="600"/>
              </a:spcBef>
              <a:defRPr sz="1600">
                <a:solidFill>
                  <a:srgbClr val="B4B4B4"/>
                </a:solidFill>
              </a:defRPr>
            </a:pPr>
            <a:r>
              <a:t>🌐 Website: uir.ac.id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2836</Words>
  <Application>Microsoft Office PowerPoint</Application>
  <PresentationFormat>Tampilan Layar (4:3)</PresentationFormat>
  <Paragraphs>388</Paragraphs>
  <Slides>14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2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Arfaa ft Ayipp</cp:lastModifiedBy>
  <cp:revision>2</cp:revision>
  <dcterms:created xsi:type="dcterms:W3CDTF">2013-01-27T09:14:16Z</dcterms:created>
  <dcterms:modified xsi:type="dcterms:W3CDTF">2026-09-30T21:01:19Z</dcterms:modified>
  <cp:category/>
</cp:coreProperties>
</file>